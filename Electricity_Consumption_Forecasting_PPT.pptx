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34" autoAdjust="0"/>
    <p:restoredTop sz="94610"/>
  </p:normalViewPr>
  <p:slideViewPr>
    <p:cSldViewPr snapToGrid="0" snapToObjects="1">
      <p:cViewPr varScale="1">
        <p:scale>
          <a:sx n="111" d="100"/>
          <a:sy n="111" d="100"/>
        </p:scale>
        <p:origin x="2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472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9FC"/>
        </a:solidFill>
        <a:effectLst/>
      </p:bgPr>
    </p:bg>
    <p:spTree>
      <p:nvGrpSpPr>
        <p:cNvPr id="1" name=""/>
        <p:cNvGrpSpPr/>
        <p:nvPr/>
      </p:nvGrpSpPr>
      <p:grpSpPr>
        <a:xfrm>
          <a:off x="0" y="0"/>
          <a:ext cx="0" cy="0"/>
          <a:chOff x="0" y="0"/>
          <a:chExt cx="0" cy="0"/>
        </a:xfrm>
      </p:grpSpPr>
      <p:sp>
        <p:nvSpPr>
          <p:cNvPr id="2" name="Text 0"/>
          <p:cNvSpPr txBox="1"/>
          <p:nvPr/>
        </p:nvSpPr>
        <p:spPr>
          <a:xfrm>
            <a:off x="3048" y="239814"/>
            <a:ext cx="12188952" cy="320040"/>
          </a:xfrm>
          <a:prstGeom prst="rect">
            <a:avLst/>
          </a:prstGeom>
          <a:noFill/>
          <a:ln/>
        </p:spPr>
        <p:txBody>
          <a:bodyPr wrap="square" lIns="0" tIns="0" rIns="0" bIns="0" rtlCol="0" anchor="ctr"/>
          <a:lstStyle/>
          <a:p>
            <a:pPr marL="0" indent="0" algn="ctr">
              <a:buNone/>
            </a:pPr>
            <a:r>
              <a:rPr lang="en-US" sz="2400" dirty="0">
                <a:solidFill>
                  <a:srgbClr val="6B6F76"/>
                </a:solidFill>
                <a:latin typeface="Calibri" pitchFamily="34" charset="0"/>
                <a:ea typeface="Calibri" pitchFamily="34" charset="-122"/>
                <a:cs typeface="Calibri" pitchFamily="34" charset="-120"/>
              </a:rPr>
              <a:t>MAHATMA EDUCATION SOCIETY'S</a:t>
            </a:r>
            <a:endParaRPr lang="en-US" sz="2400" dirty="0"/>
          </a:p>
        </p:txBody>
      </p:sp>
      <p:sp>
        <p:nvSpPr>
          <p:cNvPr id="3" name="Text 1"/>
          <p:cNvSpPr txBox="1"/>
          <p:nvPr/>
        </p:nvSpPr>
        <p:spPr>
          <a:xfrm>
            <a:off x="3048" y="559854"/>
            <a:ext cx="12188952" cy="320040"/>
          </a:xfrm>
          <a:prstGeom prst="rect">
            <a:avLst/>
          </a:prstGeom>
          <a:noFill/>
          <a:ln/>
        </p:spPr>
        <p:txBody>
          <a:bodyPr wrap="square" lIns="0" tIns="0" rIns="0" bIns="0" rtlCol="0" anchor="ctr"/>
          <a:lstStyle/>
          <a:p>
            <a:pPr marL="0" indent="0" algn="ctr">
              <a:buNone/>
            </a:pPr>
            <a:r>
              <a:rPr lang="en-US" sz="2400" b="1" dirty="0">
                <a:solidFill>
                  <a:srgbClr val="0D3B66"/>
                </a:solidFill>
                <a:latin typeface="Calibri" pitchFamily="34" charset="0"/>
                <a:ea typeface="Calibri" pitchFamily="34" charset="-122"/>
                <a:cs typeface="Calibri" pitchFamily="34" charset="-120"/>
              </a:rPr>
              <a:t>PILLAI HOC COLLEGE OF ENGINEERING &amp; TECHNOLOGY (AUTONOMOUS)</a:t>
            </a:r>
            <a:endParaRPr lang="en-US" sz="2400" dirty="0"/>
          </a:p>
        </p:txBody>
      </p:sp>
      <p:sp>
        <p:nvSpPr>
          <p:cNvPr id="4" name="Text 2"/>
          <p:cNvSpPr txBox="1"/>
          <p:nvPr/>
        </p:nvSpPr>
        <p:spPr>
          <a:xfrm>
            <a:off x="3048" y="879894"/>
            <a:ext cx="12188952" cy="274320"/>
          </a:xfrm>
          <a:prstGeom prst="rect">
            <a:avLst/>
          </a:prstGeom>
          <a:noFill/>
          <a:ln/>
        </p:spPr>
        <p:txBody>
          <a:bodyPr wrap="square" lIns="0" tIns="0" rIns="0" bIns="0" rtlCol="0" anchor="ctr"/>
          <a:lstStyle/>
          <a:p>
            <a:pPr marL="0" indent="0" algn="ctr">
              <a:buNone/>
            </a:pPr>
            <a:r>
              <a:rPr lang="en-US" sz="2000" dirty="0">
                <a:solidFill>
                  <a:srgbClr val="6B6F76"/>
                </a:solidFill>
                <a:latin typeface="Calibri" pitchFamily="34" charset="0"/>
                <a:ea typeface="Calibri" pitchFamily="34" charset="-122"/>
                <a:cs typeface="Calibri" pitchFamily="34" charset="-120"/>
              </a:rPr>
              <a:t>DEPARTMENT OF INFORMATION TECHNOLOGY  |  A.Y. 2026-27</a:t>
            </a:r>
            <a:endParaRPr lang="en-US" sz="2000" dirty="0"/>
          </a:p>
        </p:txBody>
      </p:sp>
      <p:sp>
        <p:nvSpPr>
          <p:cNvPr id="5" name="Text 3"/>
          <p:cNvSpPr txBox="1"/>
          <p:nvPr/>
        </p:nvSpPr>
        <p:spPr>
          <a:xfrm>
            <a:off x="915924" y="2001733"/>
            <a:ext cx="10360152" cy="640080"/>
          </a:xfrm>
          <a:prstGeom prst="rect">
            <a:avLst/>
          </a:prstGeom>
          <a:noFill/>
          <a:ln/>
        </p:spPr>
        <p:txBody>
          <a:bodyPr wrap="square" lIns="0" tIns="0" rIns="0" bIns="0" rtlCol="0" anchor="ctr"/>
          <a:lstStyle/>
          <a:p>
            <a:pPr marL="0" indent="0" algn="ctr">
              <a:buNone/>
            </a:pPr>
            <a:r>
              <a:rPr lang="en-US" sz="3600" b="1" dirty="0">
                <a:solidFill>
                  <a:srgbClr val="1565C0"/>
                </a:solidFill>
                <a:latin typeface="Cambria" pitchFamily="34" charset="0"/>
                <a:ea typeface="Cambria" pitchFamily="34" charset="-122"/>
                <a:cs typeface="Cambria" pitchFamily="34" charset="-120"/>
              </a:rPr>
              <a:t>ELECTRICITY CONSUMPTION</a:t>
            </a:r>
            <a:endParaRPr lang="en-US" sz="3600" dirty="0"/>
          </a:p>
        </p:txBody>
      </p:sp>
      <p:sp>
        <p:nvSpPr>
          <p:cNvPr id="6" name="Text 4"/>
          <p:cNvSpPr txBox="1"/>
          <p:nvPr/>
        </p:nvSpPr>
        <p:spPr>
          <a:xfrm>
            <a:off x="915924" y="2596093"/>
            <a:ext cx="10360152" cy="548640"/>
          </a:xfrm>
          <a:prstGeom prst="rect">
            <a:avLst/>
          </a:prstGeom>
          <a:noFill/>
          <a:ln/>
        </p:spPr>
        <p:txBody>
          <a:bodyPr wrap="square" lIns="0" tIns="0" rIns="0" bIns="0" rtlCol="0" anchor="ctr"/>
          <a:lstStyle/>
          <a:p>
            <a:pPr marL="0" indent="0" algn="ctr">
              <a:buNone/>
            </a:pPr>
            <a:r>
              <a:rPr lang="en-US" sz="2800" b="1" dirty="0">
                <a:solidFill>
                  <a:srgbClr val="0D3B66"/>
                </a:solidFill>
                <a:latin typeface="Cambria" pitchFamily="34" charset="0"/>
                <a:ea typeface="Cambria" pitchFamily="34" charset="-122"/>
                <a:cs typeface="Cambria" pitchFamily="34" charset="-120"/>
              </a:rPr>
              <a:t>FORECASTING USING MACHINE LEARNING</a:t>
            </a:r>
            <a:endParaRPr lang="en-US" sz="2800" dirty="0"/>
          </a:p>
        </p:txBody>
      </p:sp>
      <p:sp>
        <p:nvSpPr>
          <p:cNvPr id="8" name="Text 6"/>
          <p:cNvSpPr txBox="1"/>
          <p:nvPr/>
        </p:nvSpPr>
        <p:spPr>
          <a:xfrm>
            <a:off x="1036320" y="4868779"/>
            <a:ext cx="5120640" cy="822960"/>
          </a:xfrm>
          <a:prstGeom prst="rect">
            <a:avLst/>
          </a:prstGeom>
          <a:noFill/>
          <a:ln/>
        </p:spPr>
        <p:txBody>
          <a:bodyPr wrap="square" lIns="0" tIns="0" rIns="0" bIns="0" rtlCol="0" anchor="ctr"/>
          <a:lstStyle/>
          <a:p>
            <a:pPr marL="0" indent="0">
              <a:buNone/>
            </a:pPr>
            <a:r>
              <a:rPr lang="en-US" b="1" dirty="0">
                <a:solidFill>
                  <a:srgbClr val="0D3B66"/>
                </a:solidFill>
                <a:latin typeface="Calibri" pitchFamily="34" charset="0"/>
                <a:ea typeface="Calibri" pitchFamily="34" charset="-122"/>
                <a:cs typeface="Calibri" pitchFamily="34" charset="-120"/>
              </a:rPr>
              <a:t>Made By :</a:t>
            </a:r>
            <a:endParaRPr lang="en-US" dirty="0"/>
          </a:p>
          <a:p>
            <a:pPr marL="0" indent="0">
              <a:buNone/>
            </a:pPr>
            <a:r>
              <a:rPr lang="en-US" sz="1600" dirty="0">
                <a:solidFill>
                  <a:srgbClr val="44474F"/>
                </a:solidFill>
                <a:latin typeface="Calibri" pitchFamily="34" charset="0"/>
                <a:ea typeface="Calibri" pitchFamily="34" charset="-122"/>
                <a:cs typeface="Calibri" pitchFamily="34" charset="-120"/>
              </a:rPr>
              <a:t>Omkar Ratnakar Dhanawade  (Roll No. 10, BE IT - Div A)</a:t>
            </a:r>
            <a:endParaRPr lang="en-US" dirty="0"/>
          </a:p>
        </p:txBody>
      </p:sp>
      <p:sp>
        <p:nvSpPr>
          <p:cNvPr id="9" name="Text 7"/>
          <p:cNvSpPr txBox="1"/>
          <p:nvPr/>
        </p:nvSpPr>
        <p:spPr>
          <a:xfrm>
            <a:off x="6096000" y="4868779"/>
            <a:ext cx="5120640" cy="822960"/>
          </a:xfrm>
          <a:prstGeom prst="rect">
            <a:avLst/>
          </a:prstGeom>
          <a:noFill/>
          <a:ln/>
        </p:spPr>
        <p:txBody>
          <a:bodyPr wrap="square" lIns="0" tIns="0" rIns="0" bIns="0" rtlCol="0" anchor="ctr"/>
          <a:lstStyle/>
          <a:p>
            <a:pPr marL="0" indent="0" algn="r">
              <a:buNone/>
            </a:pPr>
            <a:r>
              <a:rPr lang="en-US" b="1" dirty="0">
                <a:solidFill>
                  <a:srgbClr val="0D3B66"/>
                </a:solidFill>
                <a:latin typeface="Calibri" pitchFamily="34" charset="0"/>
                <a:ea typeface="Calibri" pitchFamily="34" charset="-122"/>
                <a:cs typeface="Calibri" pitchFamily="34" charset="-120"/>
              </a:rPr>
              <a:t>Under the Guidance of :</a:t>
            </a:r>
            <a:endParaRPr lang="en-US" dirty="0"/>
          </a:p>
          <a:p>
            <a:pPr marL="0" indent="0" algn="r">
              <a:buNone/>
            </a:pPr>
            <a:r>
              <a:rPr lang="en-US" sz="1600" dirty="0">
                <a:solidFill>
                  <a:srgbClr val="44474F"/>
                </a:solidFill>
                <a:latin typeface="Calibri" pitchFamily="34" charset="0"/>
                <a:ea typeface="Calibri" pitchFamily="34" charset="-122"/>
                <a:cs typeface="Calibri" pitchFamily="34" charset="-120"/>
              </a:rPr>
              <a:t>Prof. Akshata </a:t>
            </a:r>
            <a:r>
              <a:rPr lang="en-US" sz="1600" dirty="0" err="1">
                <a:solidFill>
                  <a:srgbClr val="44474F"/>
                </a:solidFill>
                <a:latin typeface="Calibri" pitchFamily="34" charset="0"/>
                <a:ea typeface="Calibri" pitchFamily="34" charset="-122"/>
                <a:cs typeface="Calibri" pitchFamily="34" charset="-120"/>
              </a:rPr>
              <a:t>Galbale</a:t>
            </a:r>
            <a:endParaRPr lang="en-US" dirty="0"/>
          </a:p>
        </p:txBody>
      </p:sp>
      <p:grpSp>
        <p:nvGrpSpPr>
          <p:cNvPr id="10" name="Group 25">
            <a:extLst>
              <a:ext uri="{FF2B5EF4-FFF2-40B4-BE49-F238E27FC236}">
                <a16:creationId xmlns:a16="http://schemas.microsoft.com/office/drawing/2014/main" id="{F8735829-806B-A72B-E621-AD3F0D776C45}"/>
              </a:ext>
            </a:extLst>
          </p:cNvPr>
          <p:cNvGrpSpPr/>
          <p:nvPr/>
        </p:nvGrpSpPr>
        <p:grpSpPr>
          <a:xfrm>
            <a:off x="10598218" y="-41381"/>
            <a:ext cx="1769763" cy="1875875"/>
            <a:chOff x="448398" y="-90499"/>
            <a:chExt cx="3805173" cy="4102482"/>
          </a:xfrm>
        </p:grpSpPr>
        <p:sp>
          <p:nvSpPr>
            <p:cNvPr id="11" name="Freeform 26">
              <a:extLst>
                <a:ext uri="{FF2B5EF4-FFF2-40B4-BE49-F238E27FC236}">
                  <a16:creationId xmlns:a16="http://schemas.microsoft.com/office/drawing/2014/main" id="{E7750402-2307-6B16-9C29-64499C8AFAB8}"/>
                </a:ext>
              </a:extLst>
            </p:cNvPr>
            <p:cNvSpPr/>
            <p:nvPr/>
          </p:nvSpPr>
          <p:spPr>
            <a:xfrm>
              <a:off x="448398" y="-90499"/>
              <a:ext cx="3805173" cy="4102482"/>
            </a:xfrm>
            <a:custGeom>
              <a:avLst/>
              <a:gdLst/>
              <a:ahLst/>
              <a:cxnLst/>
              <a:rect l="l" t="t" r="r" b="b"/>
              <a:pathLst>
                <a:path w="3805174" h="4102481">
                  <a:moveTo>
                    <a:pt x="0" y="0"/>
                  </a:moveTo>
                  <a:lnTo>
                    <a:pt x="3805174" y="0"/>
                  </a:lnTo>
                  <a:lnTo>
                    <a:pt x="3805174" y="4102481"/>
                  </a:lnTo>
                  <a:lnTo>
                    <a:pt x="0" y="4102481"/>
                  </a:lnTo>
                  <a:lnTo>
                    <a:pt x="0" y="0"/>
                  </a:lnTo>
                  <a:close/>
                </a:path>
              </a:pathLst>
            </a:custGeom>
            <a:blipFill>
              <a:blip r:embed="rId3"/>
              <a:stretch>
                <a:fillRect l="-5160" r="-5160"/>
              </a:stretch>
            </a:blipFill>
          </p:spPr>
          <p:txBody>
            <a:bodyPr/>
            <a:lstStyle/>
            <a:p>
              <a:endParaRPr lang="en-IN" dirty="0"/>
            </a:p>
          </p:txBody>
        </p:sp>
      </p:grpSp>
      <p:grpSp>
        <p:nvGrpSpPr>
          <p:cNvPr id="12" name="Group 23">
            <a:extLst>
              <a:ext uri="{FF2B5EF4-FFF2-40B4-BE49-F238E27FC236}">
                <a16:creationId xmlns:a16="http://schemas.microsoft.com/office/drawing/2014/main" id="{44030B96-844B-6032-9298-08521927BD10}"/>
              </a:ext>
            </a:extLst>
          </p:cNvPr>
          <p:cNvGrpSpPr/>
          <p:nvPr/>
        </p:nvGrpSpPr>
        <p:grpSpPr>
          <a:xfrm>
            <a:off x="50693" y="109728"/>
            <a:ext cx="1474561" cy="1557528"/>
            <a:chOff x="0" y="0"/>
            <a:chExt cx="2351176" cy="3364613"/>
          </a:xfrm>
        </p:grpSpPr>
        <p:sp>
          <p:nvSpPr>
            <p:cNvPr id="13" name="Freeform 24">
              <a:extLst>
                <a:ext uri="{FF2B5EF4-FFF2-40B4-BE49-F238E27FC236}">
                  <a16:creationId xmlns:a16="http://schemas.microsoft.com/office/drawing/2014/main" id="{0BF2DDF9-CBAB-3AFE-A69A-9F64546D0C15}"/>
                </a:ext>
              </a:extLst>
            </p:cNvPr>
            <p:cNvSpPr/>
            <p:nvPr/>
          </p:nvSpPr>
          <p:spPr>
            <a:xfrm>
              <a:off x="0" y="0"/>
              <a:ext cx="2351151" cy="3364611"/>
            </a:xfrm>
            <a:custGeom>
              <a:avLst/>
              <a:gdLst/>
              <a:ahLst/>
              <a:cxnLst/>
              <a:rect l="l" t="t" r="r" b="b"/>
              <a:pathLst>
                <a:path w="2351151" h="3364611">
                  <a:moveTo>
                    <a:pt x="0" y="0"/>
                  </a:moveTo>
                  <a:lnTo>
                    <a:pt x="2351151" y="0"/>
                  </a:lnTo>
                  <a:lnTo>
                    <a:pt x="2351151" y="3364611"/>
                  </a:lnTo>
                  <a:lnTo>
                    <a:pt x="0" y="3364611"/>
                  </a:lnTo>
                  <a:lnTo>
                    <a:pt x="0" y="0"/>
                  </a:lnTo>
                  <a:close/>
                </a:path>
              </a:pathLst>
            </a:custGeom>
            <a:blipFill>
              <a:blip r:embed="rId4"/>
              <a:stretch>
                <a:fillRect r="-1"/>
              </a:stretch>
            </a:blipFill>
          </p:spPr>
          <p:txBody>
            <a:bodyPr/>
            <a:lstStyle/>
            <a:p>
              <a:endParaRPr lang="en-I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CONTENTS</a:t>
            </a:r>
            <a:endParaRPr lang="en-US" sz="4000" u="sng" dirty="0"/>
          </a:p>
        </p:txBody>
      </p:sp>
      <p:sp>
        <p:nvSpPr>
          <p:cNvPr id="3" name="Text 1"/>
          <p:cNvSpPr/>
          <p:nvPr/>
        </p:nvSpPr>
        <p:spPr>
          <a:xfrm>
            <a:off x="548640" y="1463040"/>
            <a:ext cx="5394960" cy="48463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Introduction</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Literature Review</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Existing System</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Research Gap</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Problem Statement</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Objectives</a:t>
            </a:r>
            <a:endParaRPr lang="en-US" sz="2400" dirty="0"/>
          </a:p>
        </p:txBody>
      </p:sp>
      <p:sp>
        <p:nvSpPr>
          <p:cNvPr id="4" name="Text 2"/>
          <p:cNvSpPr/>
          <p:nvPr/>
        </p:nvSpPr>
        <p:spPr>
          <a:xfrm>
            <a:off x="6400800" y="1463040"/>
            <a:ext cx="5394960" cy="48463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Proposed System</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Requirements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System Architecture</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Methodology</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Results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Conclusion &amp; Future Scope</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References</a:t>
            </a:r>
            <a:endParaRPr lang="en-US" sz="24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6" name="Text 4"/>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INTRODUCTION</a:t>
            </a:r>
            <a:endParaRPr lang="en-US" sz="4000" u="sng" dirty="0"/>
          </a:p>
        </p:txBody>
      </p:sp>
      <p:sp>
        <p:nvSpPr>
          <p:cNvPr id="3" name="Text 1"/>
          <p:cNvSpPr/>
          <p:nvPr/>
        </p:nvSpPr>
        <p:spPr>
          <a:xfrm>
            <a:off x="548640" y="1371600"/>
            <a:ext cx="11091672" cy="48463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Electricity consumption forecasting predicts future power usage from historical consumption patterns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Machine learning models learn recurring daily, weekly, and seasonal usage trends automatically</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Enables proactive planning for utilities, smart buildings, and individual households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This project takes historical hourly load data and produces short-term demand forecasts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Built as a complete pipeline: data cleaning, feature engineering, model training, and a live interactive dashboard</a:t>
            </a:r>
            <a:endParaRPr lang="en-US" sz="24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3600" b="1" u="sng" dirty="0">
                <a:solidFill>
                  <a:srgbClr val="0D3B66"/>
                </a:solidFill>
                <a:latin typeface="Cambria" pitchFamily="34" charset="0"/>
                <a:ea typeface="Cambria" pitchFamily="34" charset="-122"/>
                <a:cs typeface="Cambria" pitchFamily="34" charset="-120"/>
              </a:rPr>
              <a:t>LITERATURE REVIEW</a:t>
            </a:r>
            <a:endParaRPr lang="en-US" sz="3600" u="sng"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4</a:t>
            </a:r>
            <a:endParaRPr lang="en-US" sz="900" dirty="0"/>
          </a:p>
        </p:txBody>
      </p:sp>
      <p:graphicFrame>
        <p:nvGraphicFramePr>
          <p:cNvPr id="8" name="Table 0">
            <a:extLst>
              <a:ext uri="{FF2B5EF4-FFF2-40B4-BE49-F238E27FC236}">
                <a16:creationId xmlns:a16="http://schemas.microsoft.com/office/drawing/2014/main" id="{8B0ADDB9-7DBD-89E2-858E-830C15A62BB7}"/>
              </a:ext>
            </a:extLst>
          </p:cNvPr>
          <p:cNvGraphicFramePr>
            <a:graphicFrameLocks noGrp="1"/>
          </p:cNvGraphicFramePr>
          <p:nvPr>
            <p:extLst>
              <p:ext uri="{D42A27DB-BD31-4B8C-83A1-F6EECF244321}">
                <p14:modId xmlns:p14="http://schemas.microsoft.com/office/powerpoint/2010/main" val="1685260252"/>
              </p:ext>
            </p:extLst>
          </p:nvPr>
        </p:nvGraphicFramePr>
        <p:xfrm>
          <a:off x="676896" y="1113321"/>
          <a:ext cx="10695672" cy="5082576"/>
        </p:xfrm>
        <a:graphic>
          <a:graphicData uri="http://schemas.openxmlformats.org/drawingml/2006/table">
            <a:tbl>
              <a:tblPr/>
              <a:tblGrid>
                <a:gridCol w="482918">
                  <a:extLst>
                    <a:ext uri="{9D8B030D-6E8A-4147-A177-3AD203B41FA5}">
                      <a16:colId xmlns:a16="http://schemas.microsoft.com/office/drawing/2014/main" val="20000"/>
                    </a:ext>
                  </a:extLst>
                </a:gridCol>
                <a:gridCol w="3127265">
                  <a:extLst>
                    <a:ext uri="{9D8B030D-6E8A-4147-A177-3AD203B41FA5}">
                      <a16:colId xmlns:a16="http://schemas.microsoft.com/office/drawing/2014/main" val="20001"/>
                    </a:ext>
                  </a:extLst>
                </a:gridCol>
                <a:gridCol w="2546487">
                  <a:extLst>
                    <a:ext uri="{9D8B030D-6E8A-4147-A177-3AD203B41FA5}">
                      <a16:colId xmlns:a16="http://schemas.microsoft.com/office/drawing/2014/main" val="20002"/>
                    </a:ext>
                  </a:extLst>
                </a:gridCol>
                <a:gridCol w="2278436">
                  <a:extLst>
                    <a:ext uri="{9D8B030D-6E8A-4147-A177-3AD203B41FA5}">
                      <a16:colId xmlns:a16="http://schemas.microsoft.com/office/drawing/2014/main" val="20003"/>
                    </a:ext>
                  </a:extLst>
                </a:gridCol>
                <a:gridCol w="2260566">
                  <a:extLst>
                    <a:ext uri="{9D8B030D-6E8A-4147-A177-3AD203B41FA5}">
                      <a16:colId xmlns:a16="http://schemas.microsoft.com/office/drawing/2014/main" val="20004"/>
                    </a:ext>
                  </a:extLst>
                </a:gridCol>
              </a:tblGrid>
              <a:tr h="434706">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Sr.</a:t>
                      </a:r>
                      <a:endParaRPr lang="en-US" sz="1400" dirty="0">
                        <a:latin typeface="Calibri" charset="0"/>
                        <a:ea typeface="Calibri" charset="0"/>
                        <a:cs typeface="Calibri" charset="0"/>
                      </a:endParaRPr>
                    </a:p>
                    <a:p>
                      <a:pPr marL="0" indent="0" algn="l">
                        <a:buNone/>
                      </a:pPr>
                      <a:r>
                        <a:rPr lang="en-US" sz="1400" b="1" dirty="0">
                          <a:solidFill>
                            <a:srgbClr val="FFFFFF"/>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anchor="ctr">
                    <a:lnL w="12700" cap="flat" cmpd="sng" algn="ctr">
                      <a:solidFill>
                        <a:srgbClr val="0D3B66"/>
                      </a:solidFill>
                      <a:prstDash val="solid"/>
                      <a:round/>
                      <a:headEnd type="none" w="med" len="med"/>
                      <a:tailEnd type="none" w="med" len="med"/>
                    </a:lnL>
                    <a:lnR w="12700" cap="flat" cmpd="sng" algn="ctr">
                      <a:solidFill>
                        <a:srgbClr val="0D3B66"/>
                      </a:solidFill>
                      <a:prstDash val="solid"/>
                      <a:round/>
                      <a:headEnd type="none" w="med" len="med"/>
                      <a:tailEnd type="none" w="med" len="med"/>
                    </a:lnR>
                    <a:lnT w="12700" cap="flat" cmpd="sng" algn="ctr">
                      <a:solidFill>
                        <a:srgbClr val="0D3B66"/>
                      </a:solidFill>
                      <a:prstDash val="solid"/>
                      <a:round/>
                      <a:headEnd type="none" w="med" len="med"/>
                      <a:tailEnd type="none" w="med" len="med"/>
                    </a:lnT>
                    <a:lnB w="12700" cap="flat" cmpd="sng" algn="ctr">
                      <a:solidFill>
                        <a:srgbClr val="0D3B66"/>
                      </a:solidFill>
                      <a:prstDash val="solid"/>
                      <a:round/>
                      <a:headEnd type="none" w="med" len="med"/>
                      <a:tailEnd type="none" w="med" len="med"/>
                    </a:lnB>
                    <a:solidFill>
                      <a:srgbClr val="0D3B66"/>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Research Paper</a:t>
                      </a:r>
                      <a:endParaRPr lang="en-US" sz="1800" dirty="0">
                        <a:latin typeface="Calibri" charset="0"/>
                        <a:ea typeface="Calibri" charset="0"/>
                        <a:cs typeface="Calibri" charset="0"/>
                      </a:endParaRPr>
                    </a:p>
                  </a:txBody>
                  <a:tcPr anchor="ctr">
                    <a:lnL w="12700" cap="flat" cmpd="sng" algn="ctr">
                      <a:solidFill>
                        <a:srgbClr val="0D3B66"/>
                      </a:solidFill>
                      <a:prstDash val="solid"/>
                      <a:round/>
                      <a:headEnd type="none" w="med" len="med"/>
                      <a:tailEnd type="none" w="med" len="med"/>
                    </a:lnL>
                    <a:lnR w="12700" cap="flat" cmpd="sng" algn="ctr">
                      <a:solidFill>
                        <a:srgbClr val="0D3B66"/>
                      </a:solidFill>
                      <a:prstDash val="solid"/>
                      <a:round/>
                      <a:headEnd type="none" w="med" len="med"/>
                      <a:tailEnd type="none" w="med" len="med"/>
                    </a:lnR>
                    <a:lnT w="12700" cap="flat" cmpd="sng" algn="ctr">
                      <a:solidFill>
                        <a:srgbClr val="0D3B66"/>
                      </a:solidFill>
                      <a:prstDash val="solid"/>
                      <a:round/>
                      <a:headEnd type="none" w="med" len="med"/>
                      <a:tailEnd type="none" w="med" len="med"/>
                    </a:lnT>
                    <a:lnB w="12700" cap="flat" cmpd="sng" algn="ctr">
                      <a:solidFill>
                        <a:srgbClr val="0D3B66"/>
                      </a:solidFill>
                      <a:prstDash val="solid"/>
                      <a:round/>
                      <a:headEnd type="none" w="med" len="med"/>
                      <a:tailEnd type="none" w="med" len="med"/>
                    </a:lnB>
                    <a:solidFill>
                      <a:srgbClr val="0D3B66"/>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Methodology</a:t>
                      </a:r>
                      <a:endParaRPr lang="en-US" sz="1800" dirty="0">
                        <a:latin typeface="Calibri" charset="0"/>
                        <a:ea typeface="Calibri" charset="0"/>
                        <a:cs typeface="Calibri" charset="0"/>
                      </a:endParaRPr>
                    </a:p>
                  </a:txBody>
                  <a:tcPr anchor="ctr">
                    <a:lnL w="12700" cap="flat" cmpd="sng" algn="ctr">
                      <a:solidFill>
                        <a:srgbClr val="0D3B66"/>
                      </a:solidFill>
                      <a:prstDash val="solid"/>
                      <a:round/>
                      <a:headEnd type="none" w="med" len="med"/>
                      <a:tailEnd type="none" w="med" len="med"/>
                    </a:lnL>
                    <a:lnR w="12700" cap="flat" cmpd="sng" algn="ctr">
                      <a:solidFill>
                        <a:srgbClr val="0D3B66"/>
                      </a:solidFill>
                      <a:prstDash val="solid"/>
                      <a:round/>
                      <a:headEnd type="none" w="med" len="med"/>
                      <a:tailEnd type="none" w="med" len="med"/>
                    </a:lnR>
                    <a:lnT w="12700" cap="flat" cmpd="sng" algn="ctr">
                      <a:solidFill>
                        <a:srgbClr val="0D3B66"/>
                      </a:solidFill>
                      <a:prstDash val="solid"/>
                      <a:round/>
                      <a:headEnd type="none" w="med" len="med"/>
                      <a:tailEnd type="none" w="med" len="med"/>
                    </a:lnT>
                    <a:lnB w="12700" cap="flat" cmpd="sng" algn="ctr">
                      <a:solidFill>
                        <a:srgbClr val="0D3B66"/>
                      </a:solidFill>
                      <a:prstDash val="solid"/>
                      <a:round/>
                      <a:headEnd type="none" w="med" len="med"/>
                      <a:tailEnd type="none" w="med" len="med"/>
                    </a:lnB>
                    <a:solidFill>
                      <a:srgbClr val="0D3B66"/>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Advantage</a:t>
                      </a:r>
                      <a:endParaRPr lang="en-US" sz="1800" dirty="0">
                        <a:latin typeface="Calibri" charset="0"/>
                        <a:ea typeface="Calibri" charset="0"/>
                        <a:cs typeface="Calibri" charset="0"/>
                      </a:endParaRPr>
                    </a:p>
                  </a:txBody>
                  <a:tcPr anchor="ctr">
                    <a:lnL w="12700" cap="flat" cmpd="sng" algn="ctr">
                      <a:solidFill>
                        <a:srgbClr val="0D3B66"/>
                      </a:solidFill>
                      <a:prstDash val="solid"/>
                      <a:round/>
                      <a:headEnd type="none" w="med" len="med"/>
                      <a:tailEnd type="none" w="med" len="med"/>
                    </a:lnL>
                    <a:lnR w="12700" cap="flat" cmpd="sng" algn="ctr">
                      <a:solidFill>
                        <a:srgbClr val="0D3B66"/>
                      </a:solidFill>
                      <a:prstDash val="solid"/>
                      <a:round/>
                      <a:headEnd type="none" w="med" len="med"/>
                      <a:tailEnd type="none" w="med" len="med"/>
                    </a:lnR>
                    <a:lnT w="12700" cap="flat" cmpd="sng" algn="ctr">
                      <a:solidFill>
                        <a:srgbClr val="0D3B66"/>
                      </a:solidFill>
                      <a:prstDash val="solid"/>
                      <a:round/>
                      <a:headEnd type="none" w="med" len="med"/>
                      <a:tailEnd type="none" w="med" len="med"/>
                    </a:lnT>
                    <a:lnB w="12700" cap="flat" cmpd="sng" algn="ctr">
                      <a:solidFill>
                        <a:srgbClr val="0D3B66"/>
                      </a:solidFill>
                      <a:prstDash val="solid"/>
                      <a:round/>
                      <a:headEnd type="none" w="med" len="med"/>
                      <a:tailEnd type="none" w="med" len="med"/>
                    </a:lnB>
                    <a:solidFill>
                      <a:srgbClr val="0D3B66"/>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Limitation</a:t>
                      </a:r>
                      <a:endParaRPr lang="en-US" sz="1800" dirty="0">
                        <a:latin typeface="Calibri" charset="0"/>
                        <a:ea typeface="Calibri" charset="0"/>
                        <a:cs typeface="Calibri" charset="0"/>
                      </a:endParaRPr>
                    </a:p>
                  </a:txBody>
                  <a:tcPr anchor="ctr">
                    <a:lnL w="12700" cap="flat" cmpd="sng" algn="ctr">
                      <a:solidFill>
                        <a:srgbClr val="0D3B66"/>
                      </a:solidFill>
                      <a:prstDash val="solid"/>
                      <a:round/>
                      <a:headEnd type="none" w="med" len="med"/>
                      <a:tailEnd type="none" w="med" len="med"/>
                    </a:lnL>
                    <a:lnR w="12700" cap="flat" cmpd="sng" algn="ctr">
                      <a:solidFill>
                        <a:srgbClr val="0D3B66"/>
                      </a:solidFill>
                      <a:prstDash val="solid"/>
                      <a:round/>
                      <a:headEnd type="none" w="med" len="med"/>
                      <a:tailEnd type="none" w="med" len="med"/>
                    </a:lnR>
                    <a:lnT w="12700" cap="flat" cmpd="sng" algn="ctr">
                      <a:solidFill>
                        <a:srgbClr val="0D3B66"/>
                      </a:solidFill>
                      <a:prstDash val="solid"/>
                      <a:round/>
                      <a:headEnd type="none" w="med" len="med"/>
                      <a:tailEnd type="none" w="med" len="med"/>
                    </a:lnT>
                    <a:lnB w="12700" cap="flat" cmpd="sng" algn="ctr">
                      <a:solidFill>
                        <a:srgbClr val="0D3B66"/>
                      </a:solidFill>
                      <a:prstDash val="solid"/>
                      <a:round/>
                      <a:headEnd type="none" w="med" len="med"/>
                      <a:tailEnd type="none" w="med" len="med"/>
                    </a:lnB>
                    <a:solidFill>
                      <a:srgbClr val="0D3B66"/>
                    </a:solidFill>
                  </a:tcPr>
                </a:tc>
                <a:extLst>
                  <a:ext uri="{0D108BD9-81ED-4DB2-BD59-A6C34878D82A}">
                    <a16:rowId xmlns:a16="http://schemas.microsoft.com/office/drawing/2014/main" val="10000"/>
                  </a:ext>
                </a:extLst>
              </a:tr>
              <a:tr h="1521472">
                <a:tc>
                  <a:txBody>
                    <a:bodyPr/>
                    <a:lstStyle/>
                    <a:p>
                      <a:pPr marL="0" indent="0" algn="ctr">
                        <a:lnSpc>
                          <a:spcPct val="300000"/>
                        </a:lnSpc>
                        <a:buNone/>
                      </a:pPr>
                      <a:r>
                        <a:rPr lang="en-US" sz="1800" dirty="0">
                          <a:solidFill>
                            <a:srgbClr val="44474F"/>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12700" cap="flat" cmpd="sng" algn="ctr">
                      <a:solidFill>
                        <a:srgbClr val="0D3B66"/>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"Nowcasting the Next Hour of Residential Load Using Boosting Ensemble Machines" - Muqtadir et al., Scientific Reports (Springer), 2025</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12700" cap="flat" cmpd="sng" algn="ctr">
                      <a:solidFill>
                        <a:srgbClr val="0D3B66"/>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Trio ensemble integrating LightGBM, XGBoost, and CatBoost; a separate model trained per residential site</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12700" cap="flat" cmpd="sng" algn="ctr">
                      <a:solidFill>
                        <a:srgbClr val="0D3B66"/>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Strong multi-site generalization; low RMSLE (0.19) and high R² (0.97) across 13 locations</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12700" cap="flat" cmpd="sng" algn="ctr">
                      <a:solidFill>
                        <a:srgbClr val="0D3B66"/>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Computationally heavy - 39 models trained across sites; needs per-site retraining</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12700" cap="flat" cmpd="sng" algn="ctr">
                      <a:solidFill>
                        <a:srgbClr val="0D3B66"/>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extLst>
                  <a:ext uri="{0D108BD9-81ED-4DB2-BD59-A6C34878D82A}">
                    <a16:rowId xmlns:a16="http://schemas.microsoft.com/office/drawing/2014/main" val="10001"/>
                  </a:ext>
                </a:extLst>
              </a:tr>
              <a:tr h="1521472">
                <a:tc>
                  <a:txBody>
                    <a:bodyPr/>
                    <a:lstStyle/>
                    <a:p>
                      <a:pPr marL="0" indent="0" algn="ctr">
                        <a:lnSpc>
                          <a:spcPct val="300000"/>
                        </a:lnSpc>
                        <a:buNone/>
                      </a:pPr>
                      <a:r>
                        <a:rPr lang="en-US" sz="1800" dirty="0">
                          <a:solidFill>
                            <a:srgbClr val="44474F"/>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"Short-Term Residential DC Load Forecasting Using Extreme Gradient Boost (XGBoost) Algorithm" - Shabbir, Husev &amp; Daniel, IEEE CPE-POWERENG, 2024</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XGBoost with data-driven feature selection based on historical usage trends for 24-hour DC load forecasting</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Captures complex non-linear load patterns; outperforms conventional forecasting methods in accuracy</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Evaluated only on residential DC load; generalization to standard AC/grid data unverified</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521472">
                <a:tc>
                  <a:txBody>
                    <a:bodyPr/>
                    <a:lstStyle/>
                    <a:p>
                      <a:pPr marL="0" indent="0" algn="ctr">
                        <a:lnSpc>
                          <a:spcPct val="300000"/>
                        </a:lnSpc>
                        <a:buNone/>
                      </a:pPr>
                      <a:r>
                        <a:rPr lang="en-US" sz="1800" dirty="0">
                          <a:solidFill>
                            <a:srgbClr val="44474F"/>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"Hybrid XGBoost-BiLSTM Net-Load Forecasting Framework With Holographic Integration for High-PV IoT Environments" - Doshi et al., IEEE Trans. Consumer Electronics, 2025</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Combines XGBoost with BiLSTM deep learning and holographic data integration for solar-connected net-load forecasting</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Leverages strengths of tree-based and deep-learning models; suited for high-PV smart grid environments</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tc>
                  <a:txBody>
                    <a:bodyPr/>
                    <a:lstStyle/>
                    <a:p>
                      <a:pPr marL="0" indent="0" algn="l">
                        <a:buNone/>
                      </a:pPr>
                      <a:r>
                        <a:rPr lang="en-US" sz="1400" dirty="0">
                          <a:solidFill>
                            <a:srgbClr val="44474F"/>
                          </a:solidFill>
                          <a:latin typeface="Calibri" pitchFamily="34" charset="0"/>
                          <a:ea typeface="Calibri" pitchFamily="34" charset="-122"/>
                          <a:cs typeface="Calibri" pitchFamily="34" charset="-120"/>
                        </a:rPr>
                        <a:t>Added model complexity increases computation cost and deployment difficulty versus single-model approaches</a:t>
                      </a:r>
                      <a:endParaRPr lang="en-US" sz="1400" dirty="0">
                        <a:latin typeface="Calibri" charset="0"/>
                        <a:ea typeface="Calibri" charset="0"/>
                        <a:cs typeface="Calibri" charset="0"/>
                      </a:endParaRPr>
                    </a:p>
                  </a:txBody>
                  <a:tcPr>
                    <a:lnL w="9525" cap="flat" cmpd="sng" algn="ctr">
                      <a:solidFill>
                        <a:srgbClr val="B9C6D3"/>
                      </a:solidFill>
                      <a:prstDash val="solid"/>
                      <a:round/>
                      <a:headEnd type="none" w="med" len="med"/>
                      <a:tailEnd type="none" w="med" len="med"/>
                    </a:lnL>
                    <a:lnR w="9525" cap="flat" cmpd="sng" algn="ctr">
                      <a:solidFill>
                        <a:srgbClr val="B9C6D3"/>
                      </a:solidFill>
                      <a:prstDash val="solid"/>
                      <a:round/>
                      <a:headEnd type="none" w="med" len="med"/>
                      <a:tailEnd type="none" w="med" len="med"/>
                    </a:lnR>
                    <a:lnT w="9525" cap="flat" cmpd="sng" algn="ctr">
                      <a:solidFill>
                        <a:srgbClr val="B9C6D3"/>
                      </a:solidFill>
                      <a:prstDash val="solid"/>
                      <a:round/>
                      <a:headEnd type="none" w="med" len="med"/>
                      <a:tailEnd type="none" w="med" len="med"/>
                    </a:lnT>
                    <a:lnB w="9525" cap="flat" cmpd="sng" algn="ctr">
                      <a:solidFill>
                        <a:srgbClr val="B9C6D3"/>
                      </a:solidFill>
                      <a:prstDash val="solid"/>
                      <a:round/>
                      <a:headEnd type="none" w="med" len="med"/>
                      <a:tailEnd type="none" w="med" len="med"/>
                    </a:lnB>
                    <a:solidFill>
                      <a:srgbClr val="F4F9F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EXISTING SYSTEM</a:t>
            </a:r>
            <a:endParaRPr lang="en-US" sz="4000" u="sng" dirty="0"/>
          </a:p>
        </p:txBody>
      </p:sp>
      <p:sp>
        <p:nvSpPr>
          <p:cNvPr id="3" name="Text 1"/>
          <p:cNvSpPr/>
          <p:nvPr/>
        </p:nvSpPr>
        <p:spPr>
          <a:xfrm>
            <a:off x="548640" y="1371600"/>
            <a:ext cx="11091672" cy="48463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Utilities largely rely on statistical methods such as ARIMA or exponential smoothing, or manual estimation from historical averages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Existing systems typically provide only aggregate-level forecasts, not per-household or per-building granularity</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Forecasting dashboards, where they exist, often lack interpretability and do not reveal why a forecast is high or low</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Models are frequently static and retrained infrequently, rather than through an automated, continuously updated pipeline</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Enterprise-grade forecasting tools are usually locked inside large SCADA or utility management systems, not accessible for smaller-scale use</a:t>
            </a:r>
            <a:endParaRPr lang="en-US" sz="24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RESEARCH GAP</a:t>
            </a:r>
            <a:endParaRPr lang="en-US" sz="4000" u="sng" dirty="0"/>
          </a:p>
        </p:txBody>
      </p:sp>
      <p:sp>
        <p:nvSpPr>
          <p:cNvPr id="3" name="Text 1"/>
          <p:cNvSpPr/>
          <p:nvPr/>
        </p:nvSpPr>
        <p:spPr>
          <a:xfrm>
            <a:off x="548640" y="1371600"/>
            <a:ext cx="11091672" cy="48463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Limited use of gradient boosting models such as XGBoost against simple baselines in accessible, end-to-end deployable projects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Absence of automated retraining pipelines that adapt to continuously evolving electricity usage patterns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Little transparency into which features actually drive a forecast, feature importance is rarely surfaced to the end user</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Few lightweight, open dashboard-based systems exist, most forecasting tools remain locked inside enterprise software</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Limited work demonstrating a complete pipeline: cleaning, feature engineering, model comparison, and visualization together</a:t>
            </a:r>
            <a:endParaRPr lang="en-US" sz="24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PROBLEM STATEMENT</a:t>
            </a:r>
            <a:endParaRPr lang="en-US" sz="4000" u="sng" dirty="0"/>
          </a:p>
        </p:txBody>
      </p:sp>
      <p:sp>
        <p:nvSpPr>
          <p:cNvPr id="3" name="Text 1"/>
          <p:cNvSpPr/>
          <p:nvPr/>
        </p:nvSpPr>
        <p:spPr>
          <a:xfrm>
            <a:off x="548640" y="1371600"/>
            <a:ext cx="11091672" cy="48463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rgbClr val="44474F"/>
                </a:solidFill>
                <a:latin typeface="Calibri" pitchFamily="34" charset="0"/>
                <a:ea typeface="Calibri" pitchFamily="34" charset="-122"/>
                <a:cs typeface="Calibri" pitchFamily="34" charset="-120"/>
              </a:rPr>
              <a:t>Electricity providers and consumers lack easy, accurate tools to predict short-term electricity demand</a:t>
            </a:r>
            <a:endParaRPr lang="en-US" sz="2800" dirty="0"/>
          </a:p>
          <a:p>
            <a:pPr marL="342900" indent="-342900">
              <a:spcAft>
                <a:spcPts val="1000"/>
              </a:spcAft>
              <a:buSzPct val="100000"/>
              <a:buChar char="▪"/>
            </a:pPr>
            <a:r>
              <a:rPr lang="en-US" sz="2800" dirty="0">
                <a:solidFill>
                  <a:srgbClr val="44474F"/>
                </a:solidFill>
                <a:latin typeface="Calibri" pitchFamily="34" charset="0"/>
                <a:ea typeface="Calibri" pitchFamily="34" charset="-122"/>
                <a:cs typeface="Calibri" pitchFamily="34" charset="-120"/>
              </a:rPr>
              <a:t>Manual or naive forecasting, such as assuming usage will match yesterday, leads to over- or under-provisioning of power</a:t>
            </a:r>
            <a:endParaRPr lang="en-US" sz="2800" dirty="0"/>
          </a:p>
          <a:p>
            <a:pPr marL="342900" indent="-342900">
              <a:spcAft>
                <a:spcPts val="1000"/>
              </a:spcAft>
              <a:buSzPct val="100000"/>
              <a:buChar char="▪"/>
            </a:pPr>
            <a:r>
              <a:rPr lang="en-US" sz="2800" dirty="0">
                <a:solidFill>
                  <a:srgbClr val="44474F"/>
                </a:solidFill>
                <a:latin typeface="Calibri" pitchFamily="34" charset="0"/>
                <a:ea typeface="Calibri" pitchFamily="34" charset="-122"/>
                <a:cs typeface="Calibri" pitchFamily="34" charset="-120"/>
              </a:rPr>
              <a:t>No accessible system combines data cleaning, feature engineering, model comparison, and visualization in a single pipeline</a:t>
            </a:r>
            <a:endParaRPr lang="en-US" sz="2800" dirty="0"/>
          </a:p>
          <a:p>
            <a:pPr marL="342900" indent="-342900">
              <a:spcAft>
                <a:spcPts val="1000"/>
              </a:spcAft>
              <a:buSzPct val="100000"/>
              <a:buChar char="▪"/>
            </a:pPr>
            <a:r>
              <a:rPr lang="en-US" sz="2800" dirty="0">
                <a:solidFill>
                  <a:srgbClr val="44474F"/>
                </a:solidFill>
                <a:latin typeface="Calibri" pitchFamily="34" charset="0"/>
                <a:ea typeface="Calibri" pitchFamily="34" charset="-122"/>
                <a:cs typeface="Calibri" pitchFamily="34" charset="-120"/>
              </a:rPr>
              <a:t>Existing forecasting solutions are rarely automated end-to-end, requiring repeated manual intervention</a:t>
            </a:r>
            <a:endParaRPr lang="en-US" sz="28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OBJECTIVES</a:t>
            </a:r>
            <a:endParaRPr lang="en-US" sz="4000" u="sng" dirty="0"/>
          </a:p>
        </p:txBody>
      </p:sp>
      <p:sp>
        <p:nvSpPr>
          <p:cNvPr id="3" name="Text 1"/>
          <p:cNvSpPr/>
          <p:nvPr/>
        </p:nvSpPr>
        <p:spPr>
          <a:xfrm>
            <a:off x="548640" y="1371600"/>
            <a:ext cx="11091672" cy="48463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rgbClr val="44474F"/>
                </a:solidFill>
                <a:latin typeface="Calibri" pitchFamily="34" charset="0"/>
                <a:ea typeface="Calibri" pitchFamily="34" charset="-122"/>
                <a:cs typeface="Calibri" pitchFamily="34" charset="-120"/>
              </a:rPr>
              <a:t>Build an automated pipeline to clean and prepare historical electricity load data</a:t>
            </a:r>
            <a:endParaRPr lang="en-US" sz="2800" dirty="0"/>
          </a:p>
          <a:p>
            <a:pPr marL="342900" indent="-342900">
              <a:spcAft>
                <a:spcPts val="1000"/>
              </a:spcAft>
              <a:buSzPct val="100000"/>
              <a:buChar char="▪"/>
            </a:pPr>
            <a:r>
              <a:rPr lang="en-US" sz="2800" dirty="0">
                <a:solidFill>
                  <a:srgbClr val="44474F"/>
                </a:solidFill>
                <a:latin typeface="Calibri" pitchFamily="34" charset="0"/>
                <a:ea typeface="Calibri" pitchFamily="34" charset="-122"/>
                <a:cs typeface="Calibri" pitchFamily="34" charset="-120"/>
              </a:rPr>
              <a:t>Engineer time-based features that capture daily, weekly, and seasonal usage patterns</a:t>
            </a:r>
            <a:endParaRPr lang="en-US" sz="2800" dirty="0"/>
          </a:p>
          <a:p>
            <a:pPr marL="342900" indent="-342900">
              <a:spcAft>
                <a:spcPts val="1000"/>
              </a:spcAft>
              <a:buSzPct val="100000"/>
              <a:buChar char="▪"/>
            </a:pPr>
            <a:r>
              <a:rPr lang="en-US" sz="2800" dirty="0">
                <a:solidFill>
                  <a:srgbClr val="44474F"/>
                </a:solidFill>
                <a:latin typeface="Calibri" pitchFamily="34" charset="0"/>
                <a:ea typeface="Calibri" pitchFamily="34" charset="-122"/>
                <a:cs typeface="Calibri" pitchFamily="34" charset="-120"/>
              </a:rPr>
              <a:t>Train and compare multiple forecasting models to identify the most accurate approach</a:t>
            </a:r>
            <a:endParaRPr lang="en-US" sz="2800" dirty="0"/>
          </a:p>
          <a:p>
            <a:pPr marL="342900" indent="-342900">
              <a:spcAft>
                <a:spcPts val="1000"/>
              </a:spcAft>
              <a:buSzPct val="100000"/>
              <a:buChar char="▪"/>
            </a:pPr>
            <a:r>
              <a:rPr lang="en-US" sz="2800" dirty="0">
                <a:solidFill>
                  <a:srgbClr val="44474F"/>
                </a:solidFill>
                <a:latin typeface="Calibri" pitchFamily="34" charset="0"/>
                <a:ea typeface="Calibri" pitchFamily="34" charset="-122"/>
                <a:cs typeface="Calibri" pitchFamily="34" charset="-120"/>
              </a:rPr>
              <a:t>Visualize predictions, model performance, and usage patterns through an interactive dashboard</a:t>
            </a:r>
            <a:endParaRPr lang="en-US" sz="2800" dirty="0"/>
          </a:p>
          <a:p>
            <a:pPr marL="342900" indent="-342900">
              <a:spcAft>
                <a:spcPts val="1000"/>
              </a:spcAft>
              <a:buSzPct val="100000"/>
              <a:buChar char="▪"/>
            </a:pPr>
            <a:r>
              <a:rPr lang="en-US" sz="2800" dirty="0">
                <a:solidFill>
                  <a:srgbClr val="44474F"/>
                </a:solidFill>
                <a:latin typeface="Calibri" pitchFamily="34" charset="0"/>
                <a:ea typeface="Calibri" pitchFamily="34" charset="-122"/>
                <a:cs typeface="Calibri" pitchFamily="34" charset="-120"/>
              </a:rPr>
              <a:t>Design the pipeline to be extendable toward a scheduled, production-style automated workflow</a:t>
            </a:r>
            <a:endParaRPr lang="en-US" sz="28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PROPOSED SYSTEM</a:t>
            </a:r>
            <a:endParaRPr lang="en-US" sz="4000" u="sng" dirty="0"/>
          </a:p>
        </p:txBody>
      </p:sp>
      <p:sp>
        <p:nvSpPr>
          <p:cNvPr id="3" name="Text 1"/>
          <p:cNvSpPr/>
          <p:nvPr/>
        </p:nvSpPr>
        <p:spPr>
          <a:xfrm>
            <a:off x="548640" y="1371600"/>
            <a:ext cx="11091672" cy="48463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Automated Data Pipeline - cleans raw meter data and resamples it to consistent hourly intervals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Feature Engineering Layer - generates lag, rolling-average, and cyclical time-based features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Model Comparison Engine - trains and evaluates Naive Baseline, Linear Regression, and XGBoost models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Time-Based Evaluation - validates every model on a strictly future holdout period, never on shuffled data</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Interactive Dashboard - visualizes forecasts, model accuracy, and historical usage patterns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Scalable Design - built to extend to scheduled automation and multi-client forecasting</a:t>
            </a:r>
            <a:endParaRPr lang="en-US" sz="24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REQUIREMENTS</a:t>
            </a:r>
            <a:endParaRPr lang="en-US" sz="4000" u="sng" dirty="0"/>
          </a:p>
        </p:txBody>
      </p:sp>
      <p:sp>
        <p:nvSpPr>
          <p:cNvPr id="3" name="Text 1"/>
          <p:cNvSpPr txBox="1"/>
          <p:nvPr/>
        </p:nvSpPr>
        <p:spPr>
          <a:xfrm>
            <a:off x="548640" y="1371600"/>
            <a:ext cx="5394960" cy="365760"/>
          </a:xfrm>
          <a:prstGeom prst="rect">
            <a:avLst/>
          </a:prstGeom>
          <a:noFill/>
          <a:ln/>
        </p:spPr>
        <p:txBody>
          <a:bodyPr wrap="square" lIns="0" tIns="0" rIns="0" bIns="0" rtlCol="0" anchor="ctr"/>
          <a:lstStyle/>
          <a:p>
            <a:pPr marL="0" indent="0">
              <a:buNone/>
            </a:pPr>
            <a:r>
              <a:rPr lang="en-US" sz="2400" b="1" dirty="0">
                <a:solidFill>
                  <a:srgbClr val="0097A7"/>
                </a:solidFill>
                <a:latin typeface="Cambria" pitchFamily="34" charset="0"/>
                <a:ea typeface="Cambria" pitchFamily="34" charset="-122"/>
                <a:cs typeface="Cambria" pitchFamily="34" charset="-120"/>
              </a:rPr>
              <a:t>Hardware Requirements</a:t>
            </a:r>
            <a:endParaRPr lang="en-US" sz="2400" dirty="0"/>
          </a:p>
        </p:txBody>
      </p:sp>
      <p:sp>
        <p:nvSpPr>
          <p:cNvPr id="4" name="Text 2"/>
          <p:cNvSpPr/>
          <p:nvPr/>
        </p:nvSpPr>
        <p:spPr>
          <a:xfrm>
            <a:off x="548640" y="1828800"/>
            <a:ext cx="5394960" cy="32004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Standard computer or laptop with a minimum of 8 GB RAM</a:t>
            </a:r>
            <a:endParaRPr lang="en-US" sz="2000" dirty="0"/>
          </a:p>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Stable internet connection for downloading the dataset</a:t>
            </a:r>
            <a:endParaRPr lang="en-US" sz="2000" dirty="0"/>
          </a:p>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No specialized sensors or IoT hardware required, as a public dataset is used</a:t>
            </a:r>
            <a:endParaRPr lang="en-US" sz="2000" dirty="0"/>
          </a:p>
        </p:txBody>
      </p:sp>
      <p:sp>
        <p:nvSpPr>
          <p:cNvPr id="5" name="Text 3"/>
          <p:cNvSpPr txBox="1"/>
          <p:nvPr/>
        </p:nvSpPr>
        <p:spPr>
          <a:xfrm>
            <a:off x="6400800" y="1371600"/>
            <a:ext cx="5394960" cy="365760"/>
          </a:xfrm>
          <a:prstGeom prst="rect">
            <a:avLst/>
          </a:prstGeom>
          <a:noFill/>
          <a:ln/>
        </p:spPr>
        <p:txBody>
          <a:bodyPr wrap="square" lIns="0" tIns="0" rIns="0" bIns="0" rtlCol="0" anchor="ctr"/>
          <a:lstStyle/>
          <a:p>
            <a:pPr marL="0" indent="0">
              <a:buNone/>
            </a:pPr>
            <a:r>
              <a:rPr lang="en-US" sz="2400" b="1" dirty="0">
                <a:solidFill>
                  <a:srgbClr val="0097A7"/>
                </a:solidFill>
                <a:latin typeface="Cambria" pitchFamily="34" charset="0"/>
                <a:ea typeface="Cambria" pitchFamily="34" charset="-122"/>
                <a:cs typeface="Cambria" pitchFamily="34" charset="-120"/>
              </a:rPr>
              <a:t>Software Requirements</a:t>
            </a:r>
            <a:endParaRPr lang="en-US" sz="2400" dirty="0"/>
          </a:p>
        </p:txBody>
      </p:sp>
      <p:sp>
        <p:nvSpPr>
          <p:cNvPr id="6" name="Text 4"/>
          <p:cNvSpPr/>
          <p:nvPr/>
        </p:nvSpPr>
        <p:spPr>
          <a:xfrm>
            <a:off x="6400800" y="1828800"/>
            <a:ext cx="5394960" cy="32004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Python 3.10 or higher</a:t>
            </a:r>
            <a:endParaRPr lang="en-US" sz="2000" dirty="0"/>
          </a:p>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pandas, NumPy, and scikit-learn for data handling and evaluation</a:t>
            </a:r>
            <a:endParaRPr lang="en-US" sz="2000" dirty="0"/>
          </a:p>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XGBoost library for the primary forecasting model</a:t>
            </a:r>
            <a:endParaRPr lang="en-US" sz="2000" dirty="0"/>
          </a:p>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Streamlit and Plotly for the interactive dashboard</a:t>
            </a:r>
            <a:endParaRPr lang="en-US" sz="2000" dirty="0"/>
          </a:p>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Git for version control</a:t>
            </a:r>
            <a:endParaRPr lang="en-US" sz="2000" dirty="0"/>
          </a:p>
        </p:txBody>
      </p:sp>
      <p:sp>
        <p:nvSpPr>
          <p:cNvPr id="7" name="Text 5"/>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8" name="Text 6"/>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3600" b="1" u="sng" dirty="0">
                <a:solidFill>
                  <a:srgbClr val="0D3B66"/>
                </a:solidFill>
                <a:latin typeface="Cambria" pitchFamily="34" charset="0"/>
                <a:ea typeface="Cambria" pitchFamily="34" charset="-122"/>
                <a:cs typeface="Cambria" pitchFamily="34" charset="-120"/>
              </a:rPr>
              <a:t>SYSTEM ARCHITECTURE</a:t>
            </a:r>
            <a:endParaRPr lang="en-US" sz="3600" u="sng"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11</a:t>
            </a:r>
            <a:endParaRPr lang="en-US" sz="900" dirty="0"/>
          </a:p>
        </p:txBody>
      </p:sp>
      <p:sp>
        <p:nvSpPr>
          <p:cNvPr id="7" name="Shape 1">
            <a:extLst>
              <a:ext uri="{FF2B5EF4-FFF2-40B4-BE49-F238E27FC236}">
                <a16:creationId xmlns:a16="http://schemas.microsoft.com/office/drawing/2014/main" id="{F8A86C2C-966E-EA94-081F-F43CF9030E37}"/>
              </a:ext>
            </a:extLst>
          </p:cNvPr>
          <p:cNvSpPr/>
          <p:nvPr/>
        </p:nvSpPr>
        <p:spPr>
          <a:xfrm>
            <a:off x="994610" y="1347537"/>
            <a:ext cx="1885749" cy="1258503"/>
          </a:xfrm>
          <a:prstGeom prst="roundRect">
            <a:avLst>
              <a:gd name="adj" fmla="val 6957"/>
            </a:avLst>
          </a:prstGeom>
          <a:solidFill>
            <a:srgbClr val="F4F9FC"/>
          </a:solidFill>
          <a:ln w="15875">
            <a:solidFill>
              <a:srgbClr val="0D3B66"/>
            </a:solidFill>
            <a:prstDash val="solid"/>
          </a:ln>
        </p:spPr>
        <p:txBody>
          <a:bodyPr/>
          <a:lstStyle/>
          <a:p>
            <a:endParaRPr lang="en-IN"/>
          </a:p>
        </p:txBody>
      </p:sp>
      <p:sp>
        <p:nvSpPr>
          <p:cNvPr id="9" name="Text 2">
            <a:extLst>
              <a:ext uri="{FF2B5EF4-FFF2-40B4-BE49-F238E27FC236}">
                <a16:creationId xmlns:a16="http://schemas.microsoft.com/office/drawing/2014/main" id="{3C84908D-4287-5425-E2C5-F4B06F38CF79}"/>
              </a:ext>
            </a:extLst>
          </p:cNvPr>
          <p:cNvSpPr/>
          <p:nvPr/>
        </p:nvSpPr>
        <p:spPr>
          <a:xfrm>
            <a:off x="994610" y="1347537"/>
            <a:ext cx="1885749" cy="1258503"/>
          </a:xfrm>
          <a:prstGeom prst="rect">
            <a:avLst/>
          </a:prstGeom>
          <a:noFill/>
          <a:ln/>
        </p:spPr>
        <p:txBody>
          <a:bodyPr wrap="square" lIns="50800" tIns="50800" rIns="50800" bIns="50800" rtlCol="0" anchor="ctr"/>
          <a:lstStyle/>
          <a:p>
            <a:pPr marL="0" indent="0" algn="ctr">
              <a:buNone/>
            </a:pPr>
            <a:r>
              <a:rPr lang="en-US" sz="1150" b="1" dirty="0">
                <a:solidFill>
                  <a:srgbClr val="0D3B66"/>
                </a:solidFill>
                <a:latin typeface="Calibri" pitchFamily="34" charset="0"/>
                <a:ea typeface="Calibri" pitchFamily="34" charset="-122"/>
                <a:cs typeface="Calibri" pitchFamily="34" charset="-120"/>
              </a:rPr>
              <a:t>Raw Data</a:t>
            </a:r>
            <a:endParaRPr lang="en-US" sz="1150" dirty="0"/>
          </a:p>
          <a:p>
            <a:pPr marL="0" indent="0" algn="ctr">
              <a:buNone/>
            </a:pPr>
            <a:r>
              <a:rPr lang="en-US" sz="1150" b="1" dirty="0">
                <a:solidFill>
                  <a:srgbClr val="0D3B66"/>
                </a:solidFill>
                <a:latin typeface="Calibri" pitchFamily="34" charset="0"/>
                <a:ea typeface="Calibri" pitchFamily="34" charset="-122"/>
                <a:cs typeface="Calibri" pitchFamily="34" charset="-120"/>
              </a:rPr>
              <a:t>(UCI Electricity Dataset)</a:t>
            </a:r>
            <a:endParaRPr lang="en-US" sz="1150" dirty="0"/>
          </a:p>
        </p:txBody>
      </p:sp>
      <p:sp>
        <p:nvSpPr>
          <p:cNvPr id="11" name="Shape 3">
            <a:extLst>
              <a:ext uri="{FF2B5EF4-FFF2-40B4-BE49-F238E27FC236}">
                <a16:creationId xmlns:a16="http://schemas.microsoft.com/office/drawing/2014/main" id="{8FEA719A-7716-9AB2-8A75-EC643C8619C3}"/>
              </a:ext>
            </a:extLst>
          </p:cNvPr>
          <p:cNvSpPr/>
          <p:nvPr/>
        </p:nvSpPr>
        <p:spPr>
          <a:xfrm>
            <a:off x="3646370" y="1347537"/>
            <a:ext cx="1885749" cy="1258503"/>
          </a:xfrm>
          <a:prstGeom prst="roundRect">
            <a:avLst>
              <a:gd name="adj" fmla="val 6957"/>
            </a:avLst>
          </a:prstGeom>
          <a:solidFill>
            <a:srgbClr val="F4F9FC"/>
          </a:solidFill>
          <a:ln w="15875">
            <a:solidFill>
              <a:srgbClr val="0D3B66"/>
            </a:solidFill>
            <a:prstDash val="solid"/>
          </a:ln>
        </p:spPr>
        <p:txBody>
          <a:bodyPr/>
          <a:lstStyle/>
          <a:p>
            <a:endParaRPr lang="en-IN"/>
          </a:p>
        </p:txBody>
      </p:sp>
      <p:sp>
        <p:nvSpPr>
          <p:cNvPr id="13" name="Text 4">
            <a:extLst>
              <a:ext uri="{FF2B5EF4-FFF2-40B4-BE49-F238E27FC236}">
                <a16:creationId xmlns:a16="http://schemas.microsoft.com/office/drawing/2014/main" id="{0DA6657D-D0D3-04DB-7B33-1A0594790805}"/>
              </a:ext>
            </a:extLst>
          </p:cNvPr>
          <p:cNvSpPr/>
          <p:nvPr/>
        </p:nvSpPr>
        <p:spPr>
          <a:xfrm>
            <a:off x="3646370" y="1347537"/>
            <a:ext cx="1885749" cy="1258503"/>
          </a:xfrm>
          <a:prstGeom prst="rect">
            <a:avLst/>
          </a:prstGeom>
          <a:noFill/>
          <a:ln/>
        </p:spPr>
        <p:txBody>
          <a:bodyPr wrap="square" lIns="50800" tIns="50800" rIns="50800" bIns="50800" rtlCol="0" anchor="ctr"/>
          <a:lstStyle/>
          <a:p>
            <a:pPr marL="0" indent="0" algn="ctr">
              <a:buNone/>
            </a:pPr>
            <a:r>
              <a:rPr lang="en-US" sz="1150" b="1" dirty="0">
                <a:solidFill>
                  <a:srgbClr val="0D3B66"/>
                </a:solidFill>
                <a:latin typeface="Calibri" pitchFamily="34" charset="0"/>
                <a:ea typeface="Calibri" pitchFamily="34" charset="-122"/>
                <a:cs typeface="Calibri" pitchFamily="34" charset="-120"/>
              </a:rPr>
              <a:t>Data Pipeline</a:t>
            </a:r>
            <a:endParaRPr lang="en-US" sz="1150" dirty="0"/>
          </a:p>
          <a:p>
            <a:pPr marL="0" indent="0" algn="ctr">
              <a:buNone/>
            </a:pPr>
            <a:r>
              <a:rPr lang="en-US" sz="1150" b="1" dirty="0">
                <a:solidFill>
                  <a:srgbClr val="0D3B66"/>
                </a:solidFill>
                <a:latin typeface="Calibri" pitchFamily="34" charset="0"/>
                <a:ea typeface="Calibri" pitchFamily="34" charset="-122"/>
                <a:cs typeface="Calibri" pitchFamily="34" charset="-120"/>
              </a:rPr>
              <a:t>Clean • Resample • Engineer Features</a:t>
            </a:r>
            <a:endParaRPr lang="en-US" sz="1150" dirty="0"/>
          </a:p>
        </p:txBody>
      </p:sp>
      <p:sp>
        <p:nvSpPr>
          <p:cNvPr id="15" name="Shape 5">
            <a:extLst>
              <a:ext uri="{FF2B5EF4-FFF2-40B4-BE49-F238E27FC236}">
                <a16:creationId xmlns:a16="http://schemas.microsoft.com/office/drawing/2014/main" id="{B2E19D82-0878-1C2C-48FF-673CE70FBB72}"/>
              </a:ext>
            </a:extLst>
          </p:cNvPr>
          <p:cNvSpPr/>
          <p:nvPr/>
        </p:nvSpPr>
        <p:spPr>
          <a:xfrm>
            <a:off x="6298130" y="1347537"/>
            <a:ext cx="1885749" cy="1258503"/>
          </a:xfrm>
          <a:prstGeom prst="roundRect">
            <a:avLst>
              <a:gd name="adj" fmla="val 6957"/>
            </a:avLst>
          </a:prstGeom>
          <a:solidFill>
            <a:srgbClr val="F4F9FC"/>
          </a:solidFill>
          <a:ln w="15875">
            <a:solidFill>
              <a:srgbClr val="0D3B66"/>
            </a:solidFill>
            <a:prstDash val="solid"/>
          </a:ln>
        </p:spPr>
        <p:txBody>
          <a:bodyPr/>
          <a:lstStyle/>
          <a:p>
            <a:endParaRPr lang="en-IN"/>
          </a:p>
        </p:txBody>
      </p:sp>
      <p:sp>
        <p:nvSpPr>
          <p:cNvPr id="17" name="Text 6">
            <a:extLst>
              <a:ext uri="{FF2B5EF4-FFF2-40B4-BE49-F238E27FC236}">
                <a16:creationId xmlns:a16="http://schemas.microsoft.com/office/drawing/2014/main" id="{4D1C3026-0C92-0FA2-CCD4-AB0B20438A7C}"/>
              </a:ext>
            </a:extLst>
          </p:cNvPr>
          <p:cNvSpPr/>
          <p:nvPr/>
        </p:nvSpPr>
        <p:spPr>
          <a:xfrm>
            <a:off x="6298130" y="1347537"/>
            <a:ext cx="1885749" cy="1258503"/>
          </a:xfrm>
          <a:prstGeom prst="rect">
            <a:avLst/>
          </a:prstGeom>
          <a:noFill/>
          <a:ln/>
        </p:spPr>
        <p:txBody>
          <a:bodyPr wrap="square" lIns="50800" tIns="50800" rIns="50800" bIns="50800" rtlCol="0" anchor="ctr"/>
          <a:lstStyle/>
          <a:p>
            <a:pPr marL="0" indent="0" algn="ctr">
              <a:buNone/>
            </a:pPr>
            <a:r>
              <a:rPr lang="en-US" sz="1150" b="1" dirty="0">
                <a:solidFill>
                  <a:srgbClr val="0D3B66"/>
                </a:solidFill>
                <a:latin typeface="Calibri" pitchFamily="34" charset="0"/>
                <a:ea typeface="Calibri" pitchFamily="34" charset="-122"/>
                <a:cs typeface="Calibri" pitchFamily="34" charset="-120"/>
              </a:rPr>
              <a:t>Processed Dataset</a:t>
            </a:r>
            <a:endParaRPr lang="en-US" sz="1150" dirty="0"/>
          </a:p>
          <a:p>
            <a:pPr marL="0" indent="0" algn="ctr">
              <a:buNone/>
            </a:pPr>
            <a:r>
              <a:rPr lang="en-US" sz="1150" b="1" dirty="0">
                <a:solidFill>
                  <a:srgbClr val="0D3B66"/>
                </a:solidFill>
                <a:latin typeface="Calibri" pitchFamily="34" charset="0"/>
                <a:ea typeface="Calibri" pitchFamily="34" charset="-122"/>
                <a:cs typeface="Calibri" pitchFamily="34" charset="-120"/>
              </a:rPr>
              <a:t>Hourly, Feature-Rich CSV</a:t>
            </a:r>
            <a:endParaRPr lang="en-US" sz="1150" dirty="0"/>
          </a:p>
        </p:txBody>
      </p:sp>
      <p:sp>
        <p:nvSpPr>
          <p:cNvPr id="19" name="Shape 7">
            <a:extLst>
              <a:ext uri="{FF2B5EF4-FFF2-40B4-BE49-F238E27FC236}">
                <a16:creationId xmlns:a16="http://schemas.microsoft.com/office/drawing/2014/main" id="{7748C782-20A0-8E02-4F07-FAA2E1EE41D5}"/>
              </a:ext>
            </a:extLst>
          </p:cNvPr>
          <p:cNvSpPr/>
          <p:nvPr/>
        </p:nvSpPr>
        <p:spPr>
          <a:xfrm>
            <a:off x="8949890" y="1347537"/>
            <a:ext cx="1885749" cy="1258503"/>
          </a:xfrm>
          <a:prstGeom prst="roundRect">
            <a:avLst>
              <a:gd name="adj" fmla="val 6957"/>
            </a:avLst>
          </a:prstGeom>
          <a:solidFill>
            <a:srgbClr val="F4F9FC"/>
          </a:solidFill>
          <a:ln w="15875">
            <a:solidFill>
              <a:srgbClr val="0D3B66"/>
            </a:solidFill>
            <a:prstDash val="solid"/>
          </a:ln>
        </p:spPr>
        <p:txBody>
          <a:bodyPr/>
          <a:lstStyle/>
          <a:p>
            <a:endParaRPr lang="en-IN"/>
          </a:p>
        </p:txBody>
      </p:sp>
      <p:sp>
        <p:nvSpPr>
          <p:cNvPr id="21" name="Text 8">
            <a:extLst>
              <a:ext uri="{FF2B5EF4-FFF2-40B4-BE49-F238E27FC236}">
                <a16:creationId xmlns:a16="http://schemas.microsoft.com/office/drawing/2014/main" id="{7736CD99-9C85-942F-8559-BDE046952930}"/>
              </a:ext>
            </a:extLst>
          </p:cNvPr>
          <p:cNvSpPr/>
          <p:nvPr/>
        </p:nvSpPr>
        <p:spPr>
          <a:xfrm>
            <a:off x="8949890" y="1347537"/>
            <a:ext cx="1885749" cy="1258503"/>
          </a:xfrm>
          <a:prstGeom prst="rect">
            <a:avLst/>
          </a:prstGeom>
          <a:noFill/>
          <a:ln/>
        </p:spPr>
        <p:txBody>
          <a:bodyPr wrap="square" lIns="50800" tIns="50800" rIns="50800" bIns="50800" rtlCol="0" anchor="ctr"/>
          <a:lstStyle/>
          <a:p>
            <a:pPr marL="0" indent="0" algn="ctr">
              <a:buNone/>
            </a:pPr>
            <a:r>
              <a:rPr lang="en-US" sz="1150" b="1" dirty="0">
                <a:solidFill>
                  <a:srgbClr val="0D3B66"/>
                </a:solidFill>
                <a:latin typeface="Calibri" pitchFamily="34" charset="0"/>
                <a:ea typeface="Calibri" pitchFamily="34" charset="-122"/>
                <a:cs typeface="Calibri" pitchFamily="34" charset="-120"/>
              </a:rPr>
              <a:t>Model Training</a:t>
            </a:r>
            <a:endParaRPr lang="en-US" sz="1150" dirty="0"/>
          </a:p>
          <a:p>
            <a:pPr marL="0" indent="0" algn="ctr">
              <a:buNone/>
            </a:pPr>
            <a:r>
              <a:rPr lang="en-US" sz="1150" b="1" dirty="0">
                <a:solidFill>
                  <a:srgbClr val="0D3B66"/>
                </a:solidFill>
                <a:latin typeface="Calibri" pitchFamily="34" charset="0"/>
                <a:ea typeface="Calibri" pitchFamily="34" charset="-122"/>
                <a:cs typeface="Calibri" pitchFamily="34" charset="-120"/>
              </a:rPr>
              <a:t>Naive • Linear Regression • XGBoost</a:t>
            </a:r>
            <a:endParaRPr lang="en-US" sz="1150" dirty="0"/>
          </a:p>
        </p:txBody>
      </p:sp>
      <p:sp>
        <p:nvSpPr>
          <p:cNvPr id="23" name="Shape 9">
            <a:extLst>
              <a:ext uri="{FF2B5EF4-FFF2-40B4-BE49-F238E27FC236}">
                <a16:creationId xmlns:a16="http://schemas.microsoft.com/office/drawing/2014/main" id="{3B6B52BB-9281-01C3-FF69-FA5059CFDBA9}"/>
              </a:ext>
            </a:extLst>
          </p:cNvPr>
          <p:cNvSpPr/>
          <p:nvPr/>
        </p:nvSpPr>
        <p:spPr>
          <a:xfrm>
            <a:off x="3115683" y="1909997"/>
            <a:ext cx="214458" cy="262644"/>
          </a:xfrm>
          <a:prstGeom prst="rightArrow">
            <a:avLst/>
          </a:prstGeom>
          <a:solidFill>
            <a:srgbClr val="0097A7"/>
          </a:solidFill>
          <a:ln/>
        </p:spPr>
        <p:txBody>
          <a:bodyPr/>
          <a:lstStyle/>
          <a:p>
            <a:endParaRPr lang="en-IN"/>
          </a:p>
        </p:txBody>
      </p:sp>
      <p:sp>
        <p:nvSpPr>
          <p:cNvPr id="25" name="Shape 10">
            <a:extLst>
              <a:ext uri="{FF2B5EF4-FFF2-40B4-BE49-F238E27FC236}">
                <a16:creationId xmlns:a16="http://schemas.microsoft.com/office/drawing/2014/main" id="{A40C8033-A681-3098-91C2-7376214FAD08}"/>
              </a:ext>
            </a:extLst>
          </p:cNvPr>
          <p:cNvSpPr/>
          <p:nvPr/>
        </p:nvSpPr>
        <p:spPr>
          <a:xfrm>
            <a:off x="5767443" y="1927344"/>
            <a:ext cx="214458" cy="262644"/>
          </a:xfrm>
          <a:prstGeom prst="rightArrow">
            <a:avLst/>
          </a:prstGeom>
          <a:solidFill>
            <a:srgbClr val="0097A7"/>
          </a:solidFill>
          <a:ln/>
        </p:spPr>
        <p:txBody>
          <a:bodyPr/>
          <a:lstStyle/>
          <a:p>
            <a:endParaRPr lang="en-IN" dirty="0"/>
          </a:p>
        </p:txBody>
      </p:sp>
      <p:sp>
        <p:nvSpPr>
          <p:cNvPr id="27" name="Shape 11">
            <a:extLst>
              <a:ext uri="{FF2B5EF4-FFF2-40B4-BE49-F238E27FC236}">
                <a16:creationId xmlns:a16="http://schemas.microsoft.com/office/drawing/2014/main" id="{E96F37A0-5AD1-8AD1-9D56-42E6F412FD9F}"/>
              </a:ext>
            </a:extLst>
          </p:cNvPr>
          <p:cNvSpPr/>
          <p:nvPr/>
        </p:nvSpPr>
        <p:spPr>
          <a:xfrm>
            <a:off x="8442823" y="1927344"/>
            <a:ext cx="214458" cy="262644"/>
          </a:xfrm>
          <a:prstGeom prst="rightArrow">
            <a:avLst/>
          </a:prstGeom>
          <a:solidFill>
            <a:srgbClr val="0097A7"/>
          </a:solidFill>
          <a:ln/>
        </p:spPr>
        <p:txBody>
          <a:bodyPr/>
          <a:lstStyle/>
          <a:p>
            <a:endParaRPr lang="en-IN"/>
          </a:p>
        </p:txBody>
      </p:sp>
      <p:sp>
        <p:nvSpPr>
          <p:cNvPr id="29" name="Shape 12">
            <a:extLst>
              <a:ext uri="{FF2B5EF4-FFF2-40B4-BE49-F238E27FC236}">
                <a16:creationId xmlns:a16="http://schemas.microsoft.com/office/drawing/2014/main" id="{87826ED8-1621-F47A-6EEC-A08CFFFF4068}"/>
              </a:ext>
            </a:extLst>
          </p:cNvPr>
          <p:cNvSpPr/>
          <p:nvPr/>
        </p:nvSpPr>
        <p:spPr>
          <a:xfrm>
            <a:off x="1169502" y="3816417"/>
            <a:ext cx="2625258" cy="1258503"/>
          </a:xfrm>
          <a:prstGeom prst="roundRect">
            <a:avLst>
              <a:gd name="adj" fmla="val 6957"/>
            </a:avLst>
          </a:prstGeom>
          <a:solidFill>
            <a:srgbClr val="F4F9FC"/>
          </a:solidFill>
          <a:ln w="15875">
            <a:solidFill>
              <a:srgbClr val="0D3B66"/>
            </a:solidFill>
            <a:prstDash val="solid"/>
          </a:ln>
        </p:spPr>
        <p:txBody>
          <a:bodyPr/>
          <a:lstStyle/>
          <a:p>
            <a:endParaRPr lang="en-IN"/>
          </a:p>
        </p:txBody>
      </p:sp>
      <p:sp>
        <p:nvSpPr>
          <p:cNvPr id="31" name="Text 13">
            <a:extLst>
              <a:ext uri="{FF2B5EF4-FFF2-40B4-BE49-F238E27FC236}">
                <a16:creationId xmlns:a16="http://schemas.microsoft.com/office/drawing/2014/main" id="{7F2E3634-57E3-8EEC-6DBD-D6A9CBB5A7CF}"/>
              </a:ext>
            </a:extLst>
          </p:cNvPr>
          <p:cNvSpPr/>
          <p:nvPr/>
        </p:nvSpPr>
        <p:spPr>
          <a:xfrm>
            <a:off x="1169502" y="3816417"/>
            <a:ext cx="2625258" cy="1258503"/>
          </a:xfrm>
          <a:prstGeom prst="rect">
            <a:avLst/>
          </a:prstGeom>
          <a:noFill/>
          <a:ln/>
        </p:spPr>
        <p:txBody>
          <a:bodyPr wrap="square" lIns="50800" tIns="50800" rIns="50800" bIns="50800" rtlCol="0" anchor="ctr"/>
          <a:lstStyle/>
          <a:p>
            <a:pPr marL="0" indent="0" algn="ctr">
              <a:buNone/>
            </a:pPr>
            <a:r>
              <a:rPr lang="en-US" sz="1150" b="1" dirty="0">
                <a:solidFill>
                  <a:srgbClr val="0D3B66"/>
                </a:solidFill>
                <a:latin typeface="Calibri" pitchFamily="34" charset="0"/>
                <a:ea typeface="Calibri" pitchFamily="34" charset="-122"/>
                <a:cs typeface="Calibri" pitchFamily="34" charset="-120"/>
              </a:rPr>
              <a:t>Trained Model &amp; Metrics</a:t>
            </a:r>
            <a:endParaRPr lang="en-US" sz="1150" dirty="0"/>
          </a:p>
          <a:p>
            <a:pPr marL="0" indent="0" algn="ctr">
              <a:buNone/>
            </a:pPr>
            <a:r>
              <a:rPr lang="en-US" sz="1150" b="1" dirty="0">
                <a:solidFill>
                  <a:srgbClr val="0D3B66"/>
                </a:solidFill>
                <a:latin typeface="Calibri" pitchFamily="34" charset="0"/>
                <a:ea typeface="Calibri" pitchFamily="34" charset="-122"/>
                <a:cs typeface="Calibri" pitchFamily="34" charset="-120"/>
              </a:rPr>
              <a:t>Saved for Reuse</a:t>
            </a:r>
            <a:endParaRPr lang="en-US" sz="1150" dirty="0"/>
          </a:p>
        </p:txBody>
      </p:sp>
      <p:sp>
        <p:nvSpPr>
          <p:cNvPr id="33" name="Shape 14">
            <a:extLst>
              <a:ext uri="{FF2B5EF4-FFF2-40B4-BE49-F238E27FC236}">
                <a16:creationId xmlns:a16="http://schemas.microsoft.com/office/drawing/2014/main" id="{4725D120-1C6C-837C-5C97-DF4215586518}"/>
              </a:ext>
            </a:extLst>
          </p:cNvPr>
          <p:cNvSpPr/>
          <p:nvPr/>
        </p:nvSpPr>
        <p:spPr>
          <a:xfrm>
            <a:off x="4918542" y="3816417"/>
            <a:ext cx="2625258" cy="1258503"/>
          </a:xfrm>
          <a:prstGeom prst="roundRect">
            <a:avLst>
              <a:gd name="adj" fmla="val 6957"/>
            </a:avLst>
          </a:prstGeom>
          <a:solidFill>
            <a:srgbClr val="F4F9FC"/>
          </a:solidFill>
          <a:ln w="15875">
            <a:solidFill>
              <a:srgbClr val="0D3B66"/>
            </a:solidFill>
            <a:prstDash val="solid"/>
          </a:ln>
        </p:spPr>
        <p:txBody>
          <a:bodyPr/>
          <a:lstStyle/>
          <a:p>
            <a:endParaRPr lang="en-IN"/>
          </a:p>
        </p:txBody>
      </p:sp>
      <p:sp>
        <p:nvSpPr>
          <p:cNvPr id="35" name="Text 15">
            <a:extLst>
              <a:ext uri="{FF2B5EF4-FFF2-40B4-BE49-F238E27FC236}">
                <a16:creationId xmlns:a16="http://schemas.microsoft.com/office/drawing/2014/main" id="{D199205A-3920-5670-B26C-DAF82E07DC7F}"/>
              </a:ext>
            </a:extLst>
          </p:cNvPr>
          <p:cNvSpPr/>
          <p:nvPr/>
        </p:nvSpPr>
        <p:spPr>
          <a:xfrm>
            <a:off x="4918542" y="3816417"/>
            <a:ext cx="2625258" cy="1258503"/>
          </a:xfrm>
          <a:prstGeom prst="rect">
            <a:avLst/>
          </a:prstGeom>
          <a:noFill/>
          <a:ln/>
        </p:spPr>
        <p:txBody>
          <a:bodyPr wrap="square" lIns="50800" tIns="50800" rIns="50800" bIns="50800" rtlCol="0" anchor="ctr"/>
          <a:lstStyle/>
          <a:p>
            <a:pPr marL="0" indent="0" algn="ctr">
              <a:buNone/>
            </a:pPr>
            <a:r>
              <a:rPr lang="en-US" sz="1150" b="1" dirty="0">
                <a:solidFill>
                  <a:srgbClr val="0D3B66"/>
                </a:solidFill>
                <a:latin typeface="Calibri" pitchFamily="34" charset="0"/>
                <a:ea typeface="Calibri" pitchFamily="34" charset="-122"/>
                <a:cs typeface="Calibri" pitchFamily="34" charset="-120"/>
              </a:rPr>
              <a:t>Dashboard</a:t>
            </a:r>
            <a:endParaRPr lang="en-US" sz="1150" dirty="0"/>
          </a:p>
          <a:p>
            <a:pPr marL="0" indent="0" algn="ctr">
              <a:buNone/>
            </a:pPr>
            <a:r>
              <a:rPr lang="en-US" sz="1150" b="1" dirty="0">
                <a:solidFill>
                  <a:srgbClr val="0D3B66"/>
                </a:solidFill>
                <a:latin typeface="Calibri" pitchFamily="34" charset="0"/>
                <a:ea typeface="Calibri" pitchFamily="34" charset="-122"/>
                <a:cs typeface="Calibri" pitchFamily="34" charset="-120"/>
              </a:rPr>
              <a:t>Streamlit + Plotly (Browser-Based)</a:t>
            </a:r>
            <a:endParaRPr lang="en-US" sz="1150" dirty="0"/>
          </a:p>
        </p:txBody>
      </p:sp>
      <p:sp>
        <p:nvSpPr>
          <p:cNvPr id="37" name="Shape 16">
            <a:extLst>
              <a:ext uri="{FF2B5EF4-FFF2-40B4-BE49-F238E27FC236}">
                <a16:creationId xmlns:a16="http://schemas.microsoft.com/office/drawing/2014/main" id="{972F97C0-6354-58F0-A7B5-C98BF0FA557A}"/>
              </a:ext>
            </a:extLst>
          </p:cNvPr>
          <p:cNvSpPr/>
          <p:nvPr/>
        </p:nvSpPr>
        <p:spPr>
          <a:xfrm>
            <a:off x="8667582" y="3816417"/>
            <a:ext cx="2625258" cy="1258503"/>
          </a:xfrm>
          <a:prstGeom prst="roundRect">
            <a:avLst>
              <a:gd name="adj" fmla="val 6957"/>
            </a:avLst>
          </a:prstGeom>
          <a:solidFill>
            <a:srgbClr val="F4F9FC"/>
          </a:solidFill>
          <a:ln w="15875">
            <a:solidFill>
              <a:srgbClr val="0D3B66"/>
            </a:solidFill>
            <a:prstDash val="solid"/>
          </a:ln>
        </p:spPr>
        <p:txBody>
          <a:bodyPr/>
          <a:lstStyle/>
          <a:p>
            <a:endParaRPr lang="en-IN"/>
          </a:p>
        </p:txBody>
      </p:sp>
      <p:sp>
        <p:nvSpPr>
          <p:cNvPr id="39" name="Text 17">
            <a:extLst>
              <a:ext uri="{FF2B5EF4-FFF2-40B4-BE49-F238E27FC236}">
                <a16:creationId xmlns:a16="http://schemas.microsoft.com/office/drawing/2014/main" id="{4F0AD4BD-7E65-50CC-38A3-130E565FB151}"/>
              </a:ext>
            </a:extLst>
          </p:cNvPr>
          <p:cNvSpPr/>
          <p:nvPr/>
        </p:nvSpPr>
        <p:spPr>
          <a:xfrm>
            <a:off x="8667582" y="3816417"/>
            <a:ext cx="2625258" cy="1258503"/>
          </a:xfrm>
          <a:prstGeom prst="rect">
            <a:avLst/>
          </a:prstGeom>
          <a:noFill/>
          <a:ln/>
        </p:spPr>
        <p:txBody>
          <a:bodyPr wrap="square" lIns="50800" tIns="50800" rIns="50800" bIns="50800" rtlCol="0" anchor="ctr"/>
          <a:lstStyle/>
          <a:p>
            <a:pPr marL="0" indent="0" algn="ctr">
              <a:buNone/>
            </a:pPr>
            <a:r>
              <a:rPr lang="en-US" sz="1150" b="1" dirty="0">
                <a:solidFill>
                  <a:srgbClr val="0D3B66"/>
                </a:solidFill>
                <a:latin typeface="Calibri" pitchFamily="34" charset="0"/>
                <a:ea typeface="Calibri" pitchFamily="34" charset="-122"/>
                <a:cs typeface="Calibri" pitchFamily="34" charset="-120"/>
              </a:rPr>
              <a:t>End User</a:t>
            </a:r>
            <a:endParaRPr lang="en-US" sz="1150" dirty="0"/>
          </a:p>
          <a:p>
            <a:pPr marL="0" indent="0" algn="ctr">
              <a:buNone/>
            </a:pPr>
            <a:r>
              <a:rPr lang="en-US" sz="1150" b="1" dirty="0">
                <a:solidFill>
                  <a:srgbClr val="0D3B66"/>
                </a:solidFill>
                <a:latin typeface="Calibri" pitchFamily="34" charset="0"/>
                <a:ea typeface="Calibri" pitchFamily="34" charset="-122"/>
                <a:cs typeface="Calibri" pitchFamily="34" charset="-120"/>
              </a:rPr>
              <a:t>Views Forecasts &amp; Usage Patterns</a:t>
            </a:r>
            <a:endParaRPr lang="en-US" sz="1150" dirty="0"/>
          </a:p>
        </p:txBody>
      </p:sp>
      <p:sp>
        <p:nvSpPr>
          <p:cNvPr id="41" name="Shape 18">
            <a:extLst>
              <a:ext uri="{FF2B5EF4-FFF2-40B4-BE49-F238E27FC236}">
                <a16:creationId xmlns:a16="http://schemas.microsoft.com/office/drawing/2014/main" id="{AACA4A23-AA7B-E7DA-816C-F6DE84CA60FE}"/>
              </a:ext>
            </a:extLst>
          </p:cNvPr>
          <p:cNvSpPr/>
          <p:nvPr/>
        </p:nvSpPr>
        <p:spPr>
          <a:xfrm>
            <a:off x="4242815" y="4407900"/>
            <a:ext cx="317989" cy="262644"/>
          </a:xfrm>
          <a:prstGeom prst="rightArrow">
            <a:avLst/>
          </a:prstGeom>
          <a:solidFill>
            <a:srgbClr val="0097A7"/>
          </a:solidFill>
          <a:ln/>
        </p:spPr>
        <p:txBody>
          <a:bodyPr/>
          <a:lstStyle/>
          <a:p>
            <a:endParaRPr lang="en-IN"/>
          </a:p>
        </p:txBody>
      </p:sp>
      <p:sp>
        <p:nvSpPr>
          <p:cNvPr id="43" name="Shape 19">
            <a:extLst>
              <a:ext uri="{FF2B5EF4-FFF2-40B4-BE49-F238E27FC236}">
                <a16:creationId xmlns:a16="http://schemas.microsoft.com/office/drawing/2014/main" id="{AF565946-0139-B95B-9DD2-47554C3A718A}"/>
              </a:ext>
            </a:extLst>
          </p:cNvPr>
          <p:cNvSpPr/>
          <p:nvPr/>
        </p:nvSpPr>
        <p:spPr>
          <a:xfrm>
            <a:off x="7865890" y="4396224"/>
            <a:ext cx="317989" cy="262644"/>
          </a:xfrm>
          <a:prstGeom prst="rightArrow">
            <a:avLst/>
          </a:prstGeom>
          <a:solidFill>
            <a:srgbClr val="0097A7"/>
          </a:solidFill>
          <a:ln/>
        </p:spPr>
        <p:txBody>
          <a:bodyPr/>
          <a:lstStyle/>
          <a:p>
            <a:endParaRPr lang="en-IN"/>
          </a:p>
        </p:txBody>
      </p:sp>
      <p:sp>
        <p:nvSpPr>
          <p:cNvPr id="45" name="Shape 20">
            <a:extLst>
              <a:ext uri="{FF2B5EF4-FFF2-40B4-BE49-F238E27FC236}">
                <a16:creationId xmlns:a16="http://schemas.microsoft.com/office/drawing/2014/main" id="{2B1CD4AB-CAF0-DC60-490A-E45F545B8E20}"/>
              </a:ext>
            </a:extLst>
          </p:cNvPr>
          <p:cNvSpPr/>
          <p:nvPr/>
        </p:nvSpPr>
        <p:spPr>
          <a:xfrm>
            <a:off x="9669780" y="2606040"/>
            <a:ext cx="0" cy="708660"/>
          </a:xfrm>
          <a:prstGeom prst="line">
            <a:avLst/>
          </a:prstGeom>
          <a:noFill/>
          <a:ln w="22225">
            <a:solidFill>
              <a:srgbClr val="0097A7"/>
            </a:solidFill>
            <a:prstDash val="solid"/>
          </a:ln>
        </p:spPr>
        <p:txBody>
          <a:bodyPr/>
          <a:lstStyle/>
          <a:p>
            <a:endParaRPr lang="en-IN"/>
          </a:p>
        </p:txBody>
      </p:sp>
      <p:sp>
        <p:nvSpPr>
          <p:cNvPr id="47" name="Shape 21">
            <a:extLst>
              <a:ext uri="{FF2B5EF4-FFF2-40B4-BE49-F238E27FC236}">
                <a16:creationId xmlns:a16="http://schemas.microsoft.com/office/drawing/2014/main" id="{6C236595-0B0C-1610-6F24-9011AF632F47}"/>
              </a:ext>
            </a:extLst>
          </p:cNvPr>
          <p:cNvSpPr/>
          <p:nvPr/>
        </p:nvSpPr>
        <p:spPr>
          <a:xfrm flipV="1">
            <a:off x="2171700" y="3309029"/>
            <a:ext cx="7498080" cy="5671"/>
          </a:xfrm>
          <a:prstGeom prst="line">
            <a:avLst/>
          </a:prstGeom>
          <a:noFill/>
          <a:ln w="22225">
            <a:solidFill>
              <a:srgbClr val="0097A7"/>
            </a:solidFill>
            <a:prstDash val="solid"/>
          </a:ln>
        </p:spPr>
        <p:txBody>
          <a:bodyPr/>
          <a:lstStyle/>
          <a:p>
            <a:endParaRPr lang="en-IN"/>
          </a:p>
        </p:txBody>
      </p:sp>
      <p:sp>
        <p:nvSpPr>
          <p:cNvPr id="49" name="Shape 22">
            <a:extLst>
              <a:ext uri="{FF2B5EF4-FFF2-40B4-BE49-F238E27FC236}">
                <a16:creationId xmlns:a16="http://schemas.microsoft.com/office/drawing/2014/main" id="{FC1D9B91-8E22-B8AF-79FC-B73D2A9CE177}"/>
              </a:ext>
            </a:extLst>
          </p:cNvPr>
          <p:cNvSpPr/>
          <p:nvPr/>
        </p:nvSpPr>
        <p:spPr>
          <a:xfrm>
            <a:off x="2171700" y="3314700"/>
            <a:ext cx="0" cy="708660"/>
          </a:xfrm>
          <a:prstGeom prst="line">
            <a:avLst/>
          </a:prstGeom>
          <a:noFill/>
          <a:ln w="22225">
            <a:solidFill>
              <a:srgbClr val="0097A7"/>
            </a:solidFill>
            <a:prstDash val="solid"/>
            <a:tailEnd type="triangle"/>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METHODOLOGY</a:t>
            </a:r>
            <a:endParaRPr lang="en-US" sz="4000" u="sng" dirty="0"/>
          </a:p>
        </p:txBody>
      </p:sp>
      <p:sp>
        <p:nvSpPr>
          <p:cNvPr id="3" name="Text 1"/>
          <p:cNvSpPr/>
          <p:nvPr/>
        </p:nvSpPr>
        <p:spPr>
          <a:xfrm>
            <a:off x="548640" y="1572065"/>
            <a:ext cx="11091672" cy="48463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Data Collection - obtaining the public hourly electricity load dataset</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Data Cleaning - handling missing values and duplicates, resampling to hourly intervals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Feature Engineering - creating lag, rolling-average, and cyclical time-based features</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Model Training - training Naive, Linear Regression, and XGBoost models on a time-based split</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Evaluation - comparing models using MAE, RMSE, and MAPE on a 14-day holdout period</a:t>
            </a:r>
            <a:endParaRPr lang="en-US" sz="2400" dirty="0"/>
          </a:p>
          <a:p>
            <a:pPr marL="342900" indent="-342900">
              <a:spcAft>
                <a:spcPts val="1000"/>
              </a:spcAft>
              <a:buSzPct val="100000"/>
              <a:buChar char="▪"/>
            </a:pPr>
            <a:r>
              <a:rPr lang="en-US" sz="2400" dirty="0">
                <a:solidFill>
                  <a:srgbClr val="44474F"/>
                </a:solidFill>
                <a:latin typeface="Calibri" pitchFamily="34" charset="0"/>
                <a:ea typeface="Calibri" pitchFamily="34" charset="-122"/>
                <a:cs typeface="Calibri" pitchFamily="34" charset="-120"/>
              </a:rPr>
              <a:t>Visualization - building an interactive dashboard to present forecasts and results</a:t>
            </a:r>
            <a:endParaRPr lang="en-US" sz="24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4F9F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CONCLUSION</a:t>
            </a:r>
            <a:endParaRPr lang="en-US" sz="2600" u="sng" dirty="0"/>
          </a:p>
        </p:txBody>
      </p:sp>
      <p:sp>
        <p:nvSpPr>
          <p:cNvPr id="3" name="Text 1"/>
          <p:cNvSpPr txBox="1"/>
          <p:nvPr/>
        </p:nvSpPr>
        <p:spPr>
          <a:xfrm>
            <a:off x="548640" y="1554480"/>
            <a:ext cx="11091672" cy="4206240"/>
          </a:xfrm>
          <a:prstGeom prst="rect">
            <a:avLst/>
          </a:prstGeom>
          <a:noFill/>
          <a:ln/>
        </p:spPr>
        <p:txBody>
          <a:bodyPr wrap="square" lIns="0" tIns="0" rIns="0" bIns="0" rtlCol="0" anchor="t"/>
          <a:lstStyle/>
          <a:p>
            <a:pPr marL="0" indent="0">
              <a:lnSpc>
                <a:spcPct val="130000"/>
              </a:lnSpc>
              <a:buNone/>
            </a:pPr>
            <a:r>
              <a:rPr lang="en-US" sz="2400" dirty="0">
                <a:solidFill>
                  <a:srgbClr val="44474F"/>
                </a:solidFill>
                <a:latin typeface="Calibri" pitchFamily="34" charset="0"/>
                <a:ea typeface="Calibri" pitchFamily="34" charset="-122"/>
                <a:cs typeface="Calibri" pitchFamily="34" charset="-120"/>
              </a:rPr>
              <a:t>This project demonstrates a complete, working pipeline for electricity consumption forecasting, from raw historical data to a live, interactive dashboard. Real hourly electricity load data was cleaned, engineered into meaningful time-based features, and used to train and compare three forecasting models. The XGBoost model achieved the strongest performance, improving forecasting accuracy by roughly 30% over a naive baseline, and revealed that recent usage combined with daily and weekly patterns are the strongest predictors of future demand. The system is designed to scale further through automation, deployment, and multi-client forecasting, making it a practical foundation for real-world smart energy management.</a:t>
            </a:r>
            <a:endParaRPr lang="en-US" sz="24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marL="0" indent="0">
              <a:buNone/>
            </a:pPr>
            <a:r>
              <a:rPr lang="en-US" sz="4000" b="1" u="sng" dirty="0">
                <a:solidFill>
                  <a:srgbClr val="0D3B66"/>
                </a:solidFill>
                <a:latin typeface="Cambria" pitchFamily="34" charset="0"/>
                <a:ea typeface="Cambria" pitchFamily="34" charset="-122"/>
                <a:cs typeface="Cambria" pitchFamily="34" charset="-120"/>
              </a:rPr>
              <a:t>REFERENCES</a:t>
            </a:r>
            <a:endParaRPr lang="en-US" sz="4000" u="sng" dirty="0"/>
          </a:p>
        </p:txBody>
      </p:sp>
      <p:sp>
        <p:nvSpPr>
          <p:cNvPr id="3" name="Text 1"/>
          <p:cNvSpPr/>
          <p:nvPr/>
        </p:nvSpPr>
        <p:spPr>
          <a:xfrm>
            <a:off x="548640" y="1463040"/>
            <a:ext cx="11091672" cy="45720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[1] A. Muqtadir, B. Li, Z. Ying, C. Songsong and S. N. Kazmi, "Nowcasting the Next Hour of Residential Load Using Boosting Ensemble Machines," Scientific Reports, vol. 15, Art. 7157, 2025 (Springer Nature).</a:t>
            </a:r>
            <a:endParaRPr lang="en-US" sz="2000" dirty="0"/>
          </a:p>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[2] N. Shabbir, O. Husev and K. Daniel, "Short-Term Residential DC Load Forecasting Using Extreme Gradient Boost (XGBoost) Algorithm," 2024 IEEE 18th International Conference on Compatibility, Power Electronics and Power Engineering (CPE-POWERENG), 2024.</a:t>
            </a:r>
            <a:endParaRPr lang="en-US" sz="2000" dirty="0"/>
          </a:p>
          <a:p>
            <a:pPr marL="342900" indent="-342900">
              <a:spcAft>
                <a:spcPts val="1000"/>
              </a:spcAft>
              <a:buSzPct val="100000"/>
              <a:buChar char="▪"/>
            </a:pPr>
            <a:r>
              <a:rPr lang="en-US" sz="2000" dirty="0">
                <a:solidFill>
                  <a:srgbClr val="44474F"/>
                </a:solidFill>
                <a:latin typeface="Calibri" pitchFamily="34" charset="0"/>
                <a:ea typeface="Calibri" pitchFamily="34" charset="-122"/>
                <a:cs typeface="Calibri" pitchFamily="34" charset="-120"/>
              </a:rPr>
              <a:t>[3] R. Doshi et al., "Hybrid XGBoost-BiLSTM Net-Load Forecasting Framework With Holographic Integration for High-PV IoT Environments," IEEE Transactions on Consumer Electronics, 2025.</a:t>
            </a:r>
            <a:endParaRPr lang="en-US" sz="2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marL="0" indent="0">
              <a:buNone/>
            </a:pPr>
            <a:r>
              <a:rPr lang="en-US" sz="900" dirty="0">
                <a:solidFill>
                  <a:srgbClr val="6B6F76"/>
                </a:solidFill>
                <a:latin typeface="Calibri" pitchFamily="34" charset="0"/>
                <a:ea typeface="Calibri" pitchFamily="34" charset="-122"/>
                <a:cs typeface="Calibri" pitchFamily="34" charset="-120"/>
              </a:rPr>
              <a:t>Electricity Consumption Forecasting Using Machine Learning</a:t>
            </a:r>
            <a:endParaRPr lang="en-US" sz="900" dirty="0"/>
          </a:p>
        </p:txBody>
      </p:sp>
      <p:sp>
        <p:nvSpPr>
          <p:cNvPr id="5" name="Text 3"/>
          <p:cNvSpPr txBox="1"/>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6F7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1319</Words>
  <Application>Microsoft Office PowerPoint</Application>
  <PresentationFormat>Widescreen</PresentationFormat>
  <Paragraphs>160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omkar dhanawade</cp:lastModifiedBy>
  <cp:revision>3</cp:revision>
  <dcterms:created xsi:type="dcterms:W3CDTF">2026-09-30T03:57:45Z</dcterms:created>
  <dcterms:modified xsi:type="dcterms:W3CDTF">2026-09-30T10:31:33Z</dcterms:modified>
</cp:coreProperties>
</file>